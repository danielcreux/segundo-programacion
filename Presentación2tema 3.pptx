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Calibri" panose="020F0502020204030204" pitchFamily="34" charset="0"/>
      <p:regular r:id="rId23"/>
      <p:bold r:id="rId24"/>
      <p:italic r:id="rId25"/>
      <p:boldItalic r:id="rId26"/>
    </p:embeddedFont>
    <p:embeddedFont>
      <p:font typeface="Berlin Sans FB Demi" panose="020E0802020502020306" pitchFamily="34" charset="0"/>
      <p:bold r:id="rId27"/>
    </p:embeddedFont>
    <p:embeddedFont>
      <p:font typeface="Bobby Jones 2" panose="020B0604020202020204" charset="0"/>
      <p:regular r:id="rId28"/>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AF2E9"/>
    <a:srgbClr val="071C27"/>
    <a:srgbClr val="0410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5805" autoAdjust="0"/>
  </p:normalViewPr>
  <p:slideViewPr>
    <p:cSldViewPr>
      <p:cViewPr>
        <p:scale>
          <a:sx n="51" d="100"/>
          <a:sy n="51" d="100"/>
        </p:scale>
        <p:origin x="43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D820E-D659-4CDB-BBC6-C1776266DDA2}" type="datetimeFigureOut">
              <a:rPr lang="es-ES" smtClean="0"/>
              <a:t>05/11/2025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B0A567-7999-41D1-8F54-5F2B72E2D55D}" type="slidenum">
              <a:rPr lang="es-ES" smtClean="0"/>
              <a:t>‹Nº›</a:t>
            </a:fld>
            <a:endParaRPr lang="es-ES"/>
          </a:p>
        </p:txBody>
      </p:sp>
    </p:spTree>
    <p:extLst>
      <p:ext uri="{BB962C8B-B14F-4D97-AF65-F5344CB8AC3E}">
        <p14:creationId xmlns:p14="http://schemas.microsoft.com/office/powerpoint/2010/main" val="3522796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E56504-F489-8DBC-1798-B6688945F4BD}"/>
              </a:ext>
            </a:extLst>
          </p:cNvPr>
          <p:cNvSpPr>
            <a:spLocks noGrp="1"/>
          </p:cNvSpPr>
          <p:nvPr>
            <p:ph type="ctrTitle"/>
          </p:nvPr>
        </p:nvSpPr>
        <p:spPr>
          <a:xfrm>
            <a:off x="2286000" y="1683545"/>
            <a:ext cx="13716000" cy="3581400"/>
          </a:xfrm>
        </p:spPr>
        <p:txBody>
          <a:bodyPr anchor="b"/>
          <a:lstStyle>
            <a:lvl1pPr algn="ctr">
              <a:defRPr sz="9000"/>
            </a:lvl1pPr>
          </a:lstStyle>
          <a:p>
            <a:r>
              <a:rPr lang="es-ES" smtClean="0"/>
              <a:t>Haga clic para modificar el estilo de título del patrón</a:t>
            </a:r>
            <a:endParaRPr lang="es-ES"/>
          </a:p>
        </p:txBody>
      </p:sp>
      <p:sp>
        <p:nvSpPr>
          <p:cNvPr id="3" name="Subtítulo 2">
            <a:extLst>
              <a:ext uri="{FF2B5EF4-FFF2-40B4-BE49-F238E27FC236}">
                <a16:creationId xmlns:a16="http://schemas.microsoft.com/office/drawing/2014/main" id="{64044EED-AD6B-6242-8733-2F0ACF30360A}"/>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s-ES" smtClean="0"/>
              <a:t>Haga clic para editar el estilo de subtítulo del patrón</a:t>
            </a:r>
            <a:endParaRPr lang="es-ES"/>
          </a:p>
        </p:txBody>
      </p:sp>
      <p:sp>
        <p:nvSpPr>
          <p:cNvPr id="4" name="Marcador de fecha 3">
            <a:extLst>
              <a:ext uri="{FF2B5EF4-FFF2-40B4-BE49-F238E27FC236}">
                <a16:creationId xmlns:a16="http://schemas.microsoft.com/office/drawing/2014/main" id="{F0949382-98F3-4553-4769-821197A25C9F}"/>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Marcador de pie de página 4">
            <a:extLst>
              <a:ext uri="{FF2B5EF4-FFF2-40B4-BE49-F238E27FC236}">
                <a16:creationId xmlns:a16="http://schemas.microsoft.com/office/drawing/2014/main" id="{043776B8-C200-4F2B-AFB7-1318FACC967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5947E3A-FEC5-B463-283E-3B2E6BF43F69}"/>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80583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3554A5-B611-8B85-D1CD-F94EF69ACDE0}"/>
              </a:ext>
            </a:extLst>
          </p:cNvPr>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a:extLst>
              <a:ext uri="{FF2B5EF4-FFF2-40B4-BE49-F238E27FC236}">
                <a16:creationId xmlns:a16="http://schemas.microsoft.com/office/drawing/2014/main" id="{B49FDEDC-D4E6-23B5-3D53-A19F57419BA0}"/>
              </a:ext>
            </a:extLst>
          </p:cNvPr>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a:extLst>
              <a:ext uri="{FF2B5EF4-FFF2-40B4-BE49-F238E27FC236}">
                <a16:creationId xmlns:a16="http://schemas.microsoft.com/office/drawing/2014/main" id="{A6CF6463-814E-7EB8-7601-0E9C3B5A8C65}"/>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Marcador de pie de página 4">
            <a:extLst>
              <a:ext uri="{FF2B5EF4-FFF2-40B4-BE49-F238E27FC236}">
                <a16:creationId xmlns:a16="http://schemas.microsoft.com/office/drawing/2014/main" id="{3E516437-9C8C-AD61-7F67-2A3FDB280DD8}"/>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77B53EF-F6DE-FE47-4EF4-3572AA6FA818}"/>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06282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3DECBD-013E-2981-E1C6-1F82BC56437E}"/>
              </a:ext>
            </a:extLst>
          </p:cNvPr>
          <p:cNvSpPr>
            <a:spLocks noGrp="1"/>
          </p:cNvSpPr>
          <p:nvPr>
            <p:ph type="title"/>
          </p:nvPr>
        </p:nvSpPr>
        <p:spPr>
          <a:xfrm>
            <a:off x="1247775" y="2564608"/>
            <a:ext cx="15773400" cy="4279106"/>
          </a:xfrm>
        </p:spPr>
        <p:txBody>
          <a:bodyPr anchor="b"/>
          <a:lstStyle>
            <a:lvl1pPr>
              <a:defRPr sz="9000"/>
            </a:lvl1pPr>
          </a:lstStyle>
          <a:p>
            <a:r>
              <a:rPr lang="es-ES" smtClean="0"/>
              <a:t>Haga clic para modificar el estilo de título del patrón</a:t>
            </a:r>
            <a:endParaRPr lang="es-ES"/>
          </a:p>
        </p:txBody>
      </p:sp>
      <p:sp>
        <p:nvSpPr>
          <p:cNvPr id="3" name="Marcador de texto 2">
            <a:extLst>
              <a:ext uri="{FF2B5EF4-FFF2-40B4-BE49-F238E27FC236}">
                <a16:creationId xmlns:a16="http://schemas.microsoft.com/office/drawing/2014/main" id="{DC647A9A-9FF4-0BA7-DED2-AFED4006A51B}"/>
              </a:ext>
            </a:extLst>
          </p:cNvPr>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s-ES" smtClean="0"/>
              <a:t>Editar el estilo de texto del patrón</a:t>
            </a:r>
          </a:p>
        </p:txBody>
      </p:sp>
      <p:sp>
        <p:nvSpPr>
          <p:cNvPr id="4" name="Marcador de fecha 3">
            <a:extLst>
              <a:ext uri="{FF2B5EF4-FFF2-40B4-BE49-F238E27FC236}">
                <a16:creationId xmlns:a16="http://schemas.microsoft.com/office/drawing/2014/main" id="{BB8B694D-EEE8-C52E-EA67-FDEB93BEF34B}"/>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Marcador de pie de página 4">
            <a:extLst>
              <a:ext uri="{FF2B5EF4-FFF2-40B4-BE49-F238E27FC236}">
                <a16:creationId xmlns:a16="http://schemas.microsoft.com/office/drawing/2014/main" id="{FA81BFF7-7304-8E8D-F3CB-F63FA35D337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D9DA1C7E-3A3F-77B5-1615-5E6989CBDA46}"/>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58378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7DC2F-867F-42F6-5A65-7D8C00D136FB}"/>
              </a:ext>
            </a:extLst>
          </p:cNvPr>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a:extLst>
              <a:ext uri="{FF2B5EF4-FFF2-40B4-BE49-F238E27FC236}">
                <a16:creationId xmlns:a16="http://schemas.microsoft.com/office/drawing/2014/main" id="{C2C0DCBB-5840-91E4-93D2-927FA52D7BDD}"/>
              </a:ext>
            </a:extLst>
          </p:cNvPr>
          <p:cNvSpPr>
            <a:spLocks noGrp="1"/>
          </p:cNvSpPr>
          <p:nvPr>
            <p:ph sz="half" idx="1"/>
          </p:nvPr>
        </p:nvSpPr>
        <p:spPr>
          <a:xfrm>
            <a:off x="1257300" y="2738438"/>
            <a:ext cx="7772400" cy="6527007"/>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a:extLst>
              <a:ext uri="{FF2B5EF4-FFF2-40B4-BE49-F238E27FC236}">
                <a16:creationId xmlns:a16="http://schemas.microsoft.com/office/drawing/2014/main" id="{DF3716C0-A41D-079A-1EF5-34C2AA9F6DF6}"/>
              </a:ext>
            </a:extLst>
          </p:cNvPr>
          <p:cNvSpPr>
            <a:spLocks noGrp="1"/>
          </p:cNvSpPr>
          <p:nvPr>
            <p:ph sz="half" idx="2"/>
          </p:nvPr>
        </p:nvSpPr>
        <p:spPr>
          <a:xfrm>
            <a:off x="9258300" y="2738438"/>
            <a:ext cx="7772400" cy="6527007"/>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a:extLst>
              <a:ext uri="{FF2B5EF4-FFF2-40B4-BE49-F238E27FC236}">
                <a16:creationId xmlns:a16="http://schemas.microsoft.com/office/drawing/2014/main" id="{89E51BB0-7A63-3063-5949-5056E700C071}"/>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Marcador de pie de página 5">
            <a:extLst>
              <a:ext uri="{FF2B5EF4-FFF2-40B4-BE49-F238E27FC236}">
                <a16:creationId xmlns:a16="http://schemas.microsoft.com/office/drawing/2014/main" id="{C8C8ABC7-AD96-09FA-A91F-52CE8F33A3FE}"/>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D85D1097-B1C8-8A65-3245-F4B99A8EBD0B}"/>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98782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EB6BA1-1D6E-6233-12F7-F3508926B1E2}"/>
              </a:ext>
            </a:extLst>
          </p:cNvPr>
          <p:cNvSpPr>
            <a:spLocks noGrp="1"/>
          </p:cNvSpPr>
          <p:nvPr>
            <p:ph type="title"/>
          </p:nvPr>
        </p:nvSpPr>
        <p:spPr>
          <a:xfrm>
            <a:off x="1259682" y="547688"/>
            <a:ext cx="15773400" cy="1988345"/>
          </a:xfrm>
        </p:spPr>
        <p:txBody>
          <a:bodyPr/>
          <a:lstStyle/>
          <a:p>
            <a:r>
              <a:rPr lang="es-ES" smtClean="0"/>
              <a:t>Haga clic para modificar el estilo de título del patrón</a:t>
            </a:r>
            <a:endParaRPr lang="es-ES"/>
          </a:p>
        </p:txBody>
      </p:sp>
      <p:sp>
        <p:nvSpPr>
          <p:cNvPr id="3" name="Marcador de texto 2">
            <a:extLst>
              <a:ext uri="{FF2B5EF4-FFF2-40B4-BE49-F238E27FC236}">
                <a16:creationId xmlns:a16="http://schemas.microsoft.com/office/drawing/2014/main" id="{00F194E2-49CF-5096-42D7-A0B50188A0BB}"/>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smtClean="0"/>
              <a:t>Editar el estilo de texto del patrón</a:t>
            </a:r>
          </a:p>
        </p:txBody>
      </p:sp>
      <p:sp>
        <p:nvSpPr>
          <p:cNvPr id="4" name="Marcador de contenido 3">
            <a:extLst>
              <a:ext uri="{FF2B5EF4-FFF2-40B4-BE49-F238E27FC236}">
                <a16:creationId xmlns:a16="http://schemas.microsoft.com/office/drawing/2014/main" id="{2049BC55-1038-BD37-2986-C274608DC610}"/>
              </a:ext>
            </a:extLst>
          </p:cNvPr>
          <p:cNvSpPr>
            <a:spLocks noGrp="1"/>
          </p:cNvSpPr>
          <p:nvPr>
            <p:ph sz="half" idx="2"/>
          </p:nvPr>
        </p:nvSpPr>
        <p:spPr>
          <a:xfrm>
            <a:off x="1259683" y="3757613"/>
            <a:ext cx="7736681" cy="552688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a:extLst>
              <a:ext uri="{FF2B5EF4-FFF2-40B4-BE49-F238E27FC236}">
                <a16:creationId xmlns:a16="http://schemas.microsoft.com/office/drawing/2014/main" id="{089117F7-FB3C-12B9-FCB4-8B9EB5AE1052}"/>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smtClean="0"/>
              <a:t>Editar el estilo de texto del patrón</a:t>
            </a:r>
          </a:p>
        </p:txBody>
      </p:sp>
      <p:sp>
        <p:nvSpPr>
          <p:cNvPr id="6" name="Marcador de contenido 5">
            <a:extLst>
              <a:ext uri="{FF2B5EF4-FFF2-40B4-BE49-F238E27FC236}">
                <a16:creationId xmlns:a16="http://schemas.microsoft.com/office/drawing/2014/main" id="{221E4033-FFE5-FA31-3E08-3504D3EC6F12}"/>
              </a:ext>
            </a:extLst>
          </p:cNvPr>
          <p:cNvSpPr>
            <a:spLocks noGrp="1"/>
          </p:cNvSpPr>
          <p:nvPr>
            <p:ph sz="quarter" idx="4"/>
          </p:nvPr>
        </p:nvSpPr>
        <p:spPr>
          <a:xfrm>
            <a:off x="9258300" y="3757613"/>
            <a:ext cx="7774782" cy="552688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a:extLst>
              <a:ext uri="{FF2B5EF4-FFF2-40B4-BE49-F238E27FC236}">
                <a16:creationId xmlns:a16="http://schemas.microsoft.com/office/drawing/2014/main" id="{C5C7AB3A-D5B8-7EB0-7783-BFA5A45FF181}"/>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Marcador de pie de página 7">
            <a:extLst>
              <a:ext uri="{FF2B5EF4-FFF2-40B4-BE49-F238E27FC236}">
                <a16:creationId xmlns:a16="http://schemas.microsoft.com/office/drawing/2014/main" id="{EE4B053F-E075-9712-643B-99A5EEBD057D}"/>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F9BF684A-2CE3-B36A-DD9F-F98CDD7D2120}"/>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365075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8F74B6-D85E-0F1A-DE58-AB0B53E09C1A}"/>
              </a:ext>
            </a:extLst>
          </p:cNvPr>
          <p:cNvSpPr>
            <a:spLocks noGrp="1"/>
          </p:cNvSpPr>
          <p:nvPr>
            <p:ph type="title"/>
          </p:nvPr>
        </p:nvSpPr>
        <p:spPr/>
        <p:txBody>
          <a:bodyPr/>
          <a:lstStyle/>
          <a:p>
            <a:r>
              <a:rPr lang="es-ES" smtClean="0"/>
              <a:t>Haga clic para modificar el estilo de título del patrón</a:t>
            </a:r>
            <a:endParaRPr lang="es-ES"/>
          </a:p>
        </p:txBody>
      </p:sp>
      <p:sp>
        <p:nvSpPr>
          <p:cNvPr id="3" name="Marcador de fecha 2">
            <a:extLst>
              <a:ext uri="{FF2B5EF4-FFF2-40B4-BE49-F238E27FC236}">
                <a16:creationId xmlns:a16="http://schemas.microsoft.com/office/drawing/2014/main" id="{5793307C-29C2-2FC5-AD39-650B8ABE519A}"/>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Marcador de pie de página 3">
            <a:extLst>
              <a:ext uri="{FF2B5EF4-FFF2-40B4-BE49-F238E27FC236}">
                <a16:creationId xmlns:a16="http://schemas.microsoft.com/office/drawing/2014/main" id="{D8F64767-43CA-5495-289E-6B24CA526F20}"/>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6ADC6A91-71E5-590B-C722-3AE784E77DFB}"/>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40301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27D18CD-9B25-1BF0-DEFB-DE40BA51438F}"/>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Marcador de pie de página 2">
            <a:extLst>
              <a:ext uri="{FF2B5EF4-FFF2-40B4-BE49-F238E27FC236}">
                <a16:creationId xmlns:a16="http://schemas.microsoft.com/office/drawing/2014/main" id="{9E9DB6F7-D209-82A3-0E75-A2845DE1FE98}"/>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F232C9F1-B016-A6BE-7209-121FF64749DA}"/>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54927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5A6E3F-C13E-778F-A32B-C2C40D28B602}"/>
              </a:ext>
            </a:extLst>
          </p:cNvPr>
          <p:cNvSpPr>
            <a:spLocks noGrp="1"/>
          </p:cNvSpPr>
          <p:nvPr>
            <p:ph type="title"/>
          </p:nvPr>
        </p:nvSpPr>
        <p:spPr>
          <a:xfrm>
            <a:off x="1259683" y="685800"/>
            <a:ext cx="5898356" cy="2400300"/>
          </a:xfrm>
        </p:spPr>
        <p:txBody>
          <a:bodyPr anchor="b"/>
          <a:lstStyle>
            <a:lvl1pPr>
              <a:defRPr sz="4800"/>
            </a:lvl1pPr>
          </a:lstStyle>
          <a:p>
            <a:r>
              <a:rPr lang="es-ES" smtClean="0"/>
              <a:t>Haga clic para modificar el estilo de título del patrón</a:t>
            </a:r>
            <a:endParaRPr lang="es-ES"/>
          </a:p>
        </p:txBody>
      </p:sp>
      <p:sp>
        <p:nvSpPr>
          <p:cNvPr id="3" name="Marcador de contenido 2">
            <a:extLst>
              <a:ext uri="{FF2B5EF4-FFF2-40B4-BE49-F238E27FC236}">
                <a16:creationId xmlns:a16="http://schemas.microsoft.com/office/drawing/2014/main" id="{1F17F50F-44C9-6D18-67F1-AE9184828CA6}"/>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a:extLst>
              <a:ext uri="{FF2B5EF4-FFF2-40B4-BE49-F238E27FC236}">
                <a16:creationId xmlns:a16="http://schemas.microsoft.com/office/drawing/2014/main" id="{F2EE041C-30E9-AFAE-5491-2B3BC7936558}"/>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smtClean="0"/>
              <a:t>Editar el estilo de texto del patrón</a:t>
            </a:r>
          </a:p>
        </p:txBody>
      </p:sp>
      <p:sp>
        <p:nvSpPr>
          <p:cNvPr id="5" name="Marcador de fecha 4">
            <a:extLst>
              <a:ext uri="{FF2B5EF4-FFF2-40B4-BE49-F238E27FC236}">
                <a16:creationId xmlns:a16="http://schemas.microsoft.com/office/drawing/2014/main" id="{B61142CE-5A2B-CC00-B29D-7F48928F9F44}"/>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Marcador de pie de página 5">
            <a:extLst>
              <a:ext uri="{FF2B5EF4-FFF2-40B4-BE49-F238E27FC236}">
                <a16:creationId xmlns:a16="http://schemas.microsoft.com/office/drawing/2014/main" id="{FC2611D0-ECFA-1098-2526-FF2AB727F43D}"/>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E60D9E7A-0D30-0DAF-40B4-56C99BFD045A}"/>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904223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12E7EC-BA87-73BC-A06B-331984C2FA34}"/>
              </a:ext>
            </a:extLst>
          </p:cNvPr>
          <p:cNvSpPr>
            <a:spLocks noGrp="1"/>
          </p:cNvSpPr>
          <p:nvPr>
            <p:ph type="title"/>
          </p:nvPr>
        </p:nvSpPr>
        <p:spPr>
          <a:xfrm>
            <a:off x="1259683" y="685800"/>
            <a:ext cx="5898356" cy="2400300"/>
          </a:xfrm>
        </p:spPr>
        <p:txBody>
          <a:bodyPr anchor="b"/>
          <a:lstStyle>
            <a:lvl1pPr>
              <a:defRPr sz="4800"/>
            </a:lvl1pPr>
          </a:lstStyle>
          <a:p>
            <a:r>
              <a:rPr lang="es-ES" smtClean="0"/>
              <a:t>Haga clic para modificar el estilo de título del patrón</a:t>
            </a:r>
            <a:endParaRPr lang="es-ES"/>
          </a:p>
        </p:txBody>
      </p:sp>
      <p:sp>
        <p:nvSpPr>
          <p:cNvPr id="3" name="Marcador de posición de imagen 2">
            <a:extLst>
              <a:ext uri="{FF2B5EF4-FFF2-40B4-BE49-F238E27FC236}">
                <a16:creationId xmlns:a16="http://schemas.microsoft.com/office/drawing/2014/main" id="{2689DE30-DB5B-0A5B-B343-106675B7CA82}"/>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s-ES" smtClean="0"/>
              <a:t>Haga clic en el icono para agregar una imagen</a:t>
            </a:r>
            <a:endParaRPr lang="es-ES"/>
          </a:p>
        </p:txBody>
      </p:sp>
      <p:sp>
        <p:nvSpPr>
          <p:cNvPr id="4" name="Marcador de texto 3">
            <a:extLst>
              <a:ext uri="{FF2B5EF4-FFF2-40B4-BE49-F238E27FC236}">
                <a16:creationId xmlns:a16="http://schemas.microsoft.com/office/drawing/2014/main" id="{FFDDD85A-A089-6124-3738-B984DDEA7983}"/>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smtClean="0"/>
              <a:t>Editar el estilo de texto del patrón</a:t>
            </a:r>
          </a:p>
        </p:txBody>
      </p:sp>
      <p:sp>
        <p:nvSpPr>
          <p:cNvPr id="5" name="Marcador de fecha 4">
            <a:extLst>
              <a:ext uri="{FF2B5EF4-FFF2-40B4-BE49-F238E27FC236}">
                <a16:creationId xmlns:a16="http://schemas.microsoft.com/office/drawing/2014/main" id="{31CE3473-AD93-4014-2BAF-EEE82A2A6CA6}"/>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Marcador de pie de página 5">
            <a:extLst>
              <a:ext uri="{FF2B5EF4-FFF2-40B4-BE49-F238E27FC236}">
                <a16:creationId xmlns:a16="http://schemas.microsoft.com/office/drawing/2014/main" id="{04096018-2446-4631-7257-D0591234DB3D}"/>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E3F38537-9566-FA13-EC60-59421448C3BB}"/>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93195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EDB61B-80D4-96C4-5260-78D6A70EAAA9}"/>
              </a:ext>
            </a:extLst>
          </p:cNvPr>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a:extLst>
              <a:ext uri="{FF2B5EF4-FFF2-40B4-BE49-F238E27FC236}">
                <a16:creationId xmlns:a16="http://schemas.microsoft.com/office/drawing/2014/main" id="{707C8D85-41EC-BF97-1BE2-C78DA4902BE2}"/>
              </a:ext>
            </a:extLst>
          </p:cNvPr>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a:extLst>
              <a:ext uri="{FF2B5EF4-FFF2-40B4-BE49-F238E27FC236}">
                <a16:creationId xmlns:a16="http://schemas.microsoft.com/office/drawing/2014/main" id="{A36C378D-3127-FFC8-86A1-9DFC6007FA32}"/>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Marcador de pie de página 4">
            <a:extLst>
              <a:ext uri="{FF2B5EF4-FFF2-40B4-BE49-F238E27FC236}">
                <a16:creationId xmlns:a16="http://schemas.microsoft.com/office/drawing/2014/main" id="{27D2F544-8E69-A045-8676-A48806C088D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ACC7B9F9-B9C9-683F-A9CE-6A2D4577212B}"/>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051171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8B10BA-1C09-ABDE-1ADF-D328668FBDBA}"/>
              </a:ext>
            </a:extLst>
          </p:cNvPr>
          <p:cNvSpPr>
            <a:spLocks noGrp="1"/>
          </p:cNvSpPr>
          <p:nvPr>
            <p:ph type="title" orient="vert"/>
          </p:nvPr>
        </p:nvSpPr>
        <p:spPr>
          <a:xfrm>
            <a:off x="13087350" y="547688"/>
            <a:ext cx="3943350" cy="8717757"/>
          </a:xfrm>
        </p:spPr>
        <p:txBody>
          <a:bodyPr vert="eaVert"/>
          <a:lstStyle/>
          <a:p>
            <a:r>
              <a:rPr lang="es-ES" smtClean="0"/>
              <a:t>Haga clic para modificar el estilo de título del patrón</a:t>
            </a:r>
            <a:endParaRPr lang="es-ES"/>
          </a:p>
        </p:txBody>
      </p:sp>
      <p:sp>
        <p:nvSpPr>
          <p:cNvPr id="3" name="Marcador de texto vertical 2">
            <a:extLst>
              <a:ext uri="{FF2B5EF4-FFF2-40B4-BE49-F238E27FC236}">
                <a16:creationId xmlns:a16="http://schemas.microsoft.com/office/drawing/2014/main" id="{419F05AC-81F3-FB2C-21D1-D4E04123099F}"/>
              </a:ext>
            </a:extLst>
          </p:cNvPr>
          <p:cNvSpPr>
            <a:spLocks noGrp="1"/>
          </p:cNvSpPr>
          <p:nvPr>
            <p:ph type="body" orient="vert" idx="1"/>
          </p:nvPr>
        </p:nvSpPr>
        <p:spPr>
          <a:xfrm>
            <a:off x="1257300" y="547688"/>
            <a:ext cx="11601450" cy="8717757"/>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a:extLst>
              <a:ext uri="{FF2B5EF4-FFF2-40B4-BE49-F238E27FC236}">
                <a16:creationId xmlns:a16="http://schemas.microsoft.com/office/drawing/2014/main" id="{0E01656A-74F8-95E7-97E9-6D26CA4CF6F6}"/>
              </a:ext>
            </a:extLst>
          </p:cNvPr>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Marcador de pie de página 4">
            <a:extLst>
              <a:ext uri="{FF2B5EF4-FFF2-40B4-BE49-F238E27FC236}">
                <a16:creationId xmlns:a16="http://schemas.microsoft.com/office/drawing/2014/main" id="{990586E3-E092-4F5D-DFF4-0C6C0C566DC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8669713-2800-A73A-DE0C-ACC6AC36EA73}"/>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22525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BF6C4E1-7F0E-CF1D-3A14-A5423D70D926}"/>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8765122-1111-2B12-25C1-C7B542AA1D57}"/>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FF2370D-4EE6-591C-2BB3-871DC143B8DD}"/>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FEC50353-668A-47A6-B104-F9CF9C3E991B}" type="datetimeFigureOut">
              <a:rPr lang="es-ES" smtClean="0"/>
              <a:t>05/11/2025</a:t>
            </a:fld>
            <a:endParaRPr lang="es-ES"/>
          </a:p>
        </p:txBody>
      </p:sp>
      <p:sp>
        <p:nvSpPr>
          <p:cNvPr id="5" name="Marcador de pie de página 4">
            <a:extLst>
              <a:ext uri="{FF2B5EF4-FFF2-40B4-BE49-F238E27FC236}">
                <a16:creationId xmlns:a16="http://schemas.microsoft.com/office/drawing/2014/main" id="{08696AFA-3F06-787E-95A8-A5C31B8A4C07}"/>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0C0BDA96-24CA-2953-47F1-B44691847BF9}"/>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‹Nº›</a:t>
            </a:fld>
            <a:endParaRPr lang="en-US"/>
          </a:p>
        </p:txBody>
      </p:sp>
      <p:pic>
        <p:nvPicPr>
          <p:cNvPr id="7" name="Imagen 6" descr="Logotipo&#10;&#10;Descripción generada automáticamente">
            <a:extLst>
              <a:ext uri="{FF2B5EF4-FFF2-40B4-BE49-F238E27FC236}">
                <a16:creationId xmlns:a16="http://schemas.microsoft.com/office/drawing/2014/main" id="{DCC3CA38-5BF0-89AE-9751-1C789FCC9C39}"/>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973300" y="345283"/>
            <a:ext cx="2603884" cy="697305"/>
          </a:xfrm>
          <a:prstGeom prst="rect">
            <a:avLst/>
          </a:prstGeom>
        </p:spPr>
      </p:pic>
      <p:sp>
        <p:nvSpPr>
          <p:cNvPr id="8" name="Marcador de número de diapositiva 5">
            <a:extLst>
              <a:ext uri="{FF2B5EF4-FFF2-40B4-BE49-F238E27FC236}">
                <a16:creationId xmlns:a16="http://schemas.microsoft.com/office/drawing/2014/main" id="{50E07F2C-54BF-B7C6-3E55-C316B94DDBDD}"/>
              </a:ext>
            </a:extLst>
          </p:cNvPr>
          <p:cNvSpPr txBox="1">
            <a:spLocks/>
          </p:cNvSpPr>
          <p:nvPr userDrawn="1"/>
        </p:nvSpPr>
        <p:spPr>
          <a:xfrm>
            <a:off x="12039600" y="9625807"/>
            <a:ext cx="4810125" cy="365125"/>
          </a:xfrm>
          <a:prstGeom prst="rect">
            <a:avLst/>
          </a:prstGeom>
        </p:spPr>
        <p:txBody>
          <a:bodyPr vert="horz" lIns="91440" tIns="45720" rIns="91440" bIns="45720" rtlCol="0" anchor="ctr"/>
          <a:lstStyle>
            <a:defPPr>
              <a:defRPr lang="es-ES"/>
            </a:defPPr>
            <a:lvl1pPr marL="0" algn="r" defTabSz="914400" rtl="0" eaLnBrk="1" latinLnBrk="0" hangingPunct="1">
              <a:defRPr sz="1400" kern="1200">
                <a:solidFill>
                  <a:schemeClr val="accent6">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600" dirty="0"/>
              <a:t>Sostenibilidad aplicada al sector productivo</a:t>
            </a:r>
          </a:p>
        </p:txBody>
      </p:sp>
      <p:sp>
        <p:nvSpPr>
          <p:cNvPr id="9" name="Marcador de pie de página 4">
            <a:extLst>
              <a:ext uri="{FF2B5EF4-FFF2-40B4-BE49-F238E27FC236}">
                <a16:creationId xmlns:a16="http://schemas.microsoft.com/office/drawing/2014/main" id="{1FAA4259-7E05-5484-2AB7-BCD98FCC391C}"/>
              </a:ext>
            </a:extLst>
          </p:cNvPr>
          <p:cNvSpPr txBox="1">
            <a:spLocks/>
          </p:cNvSpPr>
          <p:nvPr userDrawn="1"/>
        </p:nvSpPr>
        <p:spPr>
          <a:xfrm>
            <a:off x="23812" y="9630569"/>
            <a:ext cx="4114800" cy="365125"/>
          </a:xfrm>
          <a:prstGeom prst="rect">
            <a:avLst/>
          </a:prstGeom>
        </p:spPr>
        <p:txBody>
          <a:bodyPr vert="horz" lIns="91440" tIns="45720" rIns="91440" bIns="45720" rtlCol="0" anchor="ctr"/>
          <a:lstStyle>
            <a:defPPr>
              <a:defRPr lang="es-E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600" dirty="0"/>
              <a:t>© Ediciones Paraninfo</a:t>
            </a:r>
          </a:p>
        </p:txBody>
      </p:sp>
    </p:spTree>
    <p:extLst>
      <p:ext uri="{BB962C8B-B14F-4D97-AF65-F5344CB8AC3E}">
        <p14:creationId xmlns:p14="http://schemas.microsoft.com/office/powerpoint/2010/main" val="9771499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s-E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8.pn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gif"/><Relationship Id="rId1" Type="http://schemas.openxmlformats.org/officeDocument/2006/relationships/slideLayout" Target="../slideLayouts/slideLayout5.xml"/><Relationship Id="rId4" Type="http://schemas.openxmlformats.org/officeDocument/2006/relationships/image" Target="../media/image29.svg"/></Relationships>
</file>

<file path=ppt/slides/_rels/slide1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5.xml"/><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3944600" y="6667500"/>
            <a:ext cx="2514600" cy="2432571"/>
          </a:xfrm>
          <a:custGeom>
            <a:avLst/>
            <a:gdLst/>
            <a:ahLst/>
            <a:cxnLst/>
            <a:rect l="l" t="t" r="r" b="b"/>
            <a:pathLst>
              <a:path w="5991079" h="5736459">
                <a:moveTo>
                  <a:pt x="0" y="0"/>
                </a:moveTo>
                <a:lnTo>
                  <a:pt x="5991079" y="0"/>
                </a:lnTo>
                <a:lnTo>
                  <a:pt x="5991079" y="5736459"/>
                </a:lnTo>
                <a:lnTo>
                  <a:pt x="0" y="573645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s-ES"/>
          </a:p>
        </p:txBody>
      </p:sp>
      <p:sp>
        <p:nvSpPr>
          <p:cNvPr id="4" name="TextBox 4"/>
          <p:cNvSpPr txBox="1"/>
          <p:nvPr/>
        </p:nvSpPr>
        <p:spPr>
          <a:xfrm>
            <a:off x="8601012" y="1333500"/>
            <a:ext cx="8286813" cy="6924973"/>
          </a:xfrm>
          <a:prstGeom prst="rect">
            <a:avLst/>
          </a:prstGeom>
        </p:spPr>
        <p:txBody>
          <a:bodyPr wrap="square" lIns="0" tIns="0" rIns="0" bIns="0" rtlCol="0" anchor="t">
            <a:spAutoFit/>
          </a:bodyPr>
          <a:lstStyle/>
          <a:p>
            <a:pPr marL="0" lvl="0" indent="0" algn="r">
              <a:lnSpc>
                <a:spcPts val="8990"/>
              </a:lnSpc>
            </a:pPr>
            <a:r>
              <a:rPr lang="es-ES" sz="8000" dirty="0">
                <a:solidFill>
                  <a:srgbClr val="317F54"/>
                </a:solidFill>
                <a:latin typeface="Bobby Jones 2" panose="020B0604020202020204" charset="0"/>
              </a:rPr>
              <a:t>Unidad didáctica 3</a:t>
            </a:r>
          </a:p>
          <a:p>
            <a:pPr marL="0" lvl="0" indent="0" algn="r">
              <a:lnSpc>
                <a:spcPts val="8990"/>
              </a:lnSpc>
            </a:pPr>
            <a:r>
              <a:rPr lang="es-ES" sz="5400" dirty="0">
                <a:solidFill>
                  <a:srgbClr val="317F54"/>
                </a:solidFill>
                <a:latin typeface="Berlin Sans FB Demi" panose="020E0802020502020306" pitchFamily="34" charset="0"/>
              </a:rPr>
              <a:t>Retos sociales contemplados por la agenda 2030 </a:t>
            </a:r>
          </a:p>
          <a:p>
            <a:pPr marL="0" lvl="0" indent="0" algn="ctr">
              <a:lnSpc>
                <a:spcPts val="8990"/>
              </a:lnSpc>
            </a:pPr>
            <a:endParaRPr lang="es-ES" sz="8000" dirty="0">
              <a:solidFill>
                <a:srgbClr val="317F54"/>
              </a:solidFill>
              <a:latin typeface="Bobby Jones 2" panose="020B0604020202020204" charset="0"/>
            </a:endParaRPr>
          </a:p>
          <a:p>
            <a:pPr marL="0" lvl="0" indent="0" algn="ctr">
              <a:lnSpc>
                <a:spcPts val="8990"/>
              </a:lnSpc>
            </a:pPr>
            <a:r>
              <a:rPr lang="es-ES" sz="8000" dirty="0">
                <a:solidFill>
                  <a:srgbClr val="317F54"/>
                </a:solidFill>
                <a:latin typeface="Bobby Jones 2" panose="020B0604020202020204" charset="0"/>
              </a:rPr>
              <a:t> </a:t>
            </a:r>
          </a:p>
        </p:txBody>
      </p:sp>
      <p:pic>
        <p:nvPicPr>
          <p:cNvPr id="2" name="Imagen 1" descr="Una captura de pantalla de un celular con letras&#10;&#10;Descripción generada automáticamente con confianza baja">
            <a:extLst>
              <a:ext uri="{FF2B5EF4-FFF2-40B4-BE49-F238E27FC236}">
                <a16:creationId xmlns:a16="http://schemas.microsoft.com/office/drawing/2014/main" id="{618AD4FC-D232-9215-8011-E03DDFF9B9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00" y="747898"/>
            <a:ext cx="6477000" cy="835217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9231087" y="2448267"/>
            <a:ext cx="8142514" cy="7037694"/>
          </a:xfrm>
          <a:custGeom>
            <a:avLst/>
            <a:gdLst/>
            <a:ahLst/>
            <a:cxnLst/>
            <a:rect l="l" t="t" r="r" b="b"/>
            <a:pathLst>
              <a:path w="8727621" h="7743780">
                <a:moveTo>
                  <a:pt x="0" y="0"/>
                </a:moveTo>
                <a:lnTo>
                  <a:pt x="8727621" y="0"/>
                </a:lnTo>
                <a:lnTo>
                  <a:pt x="8727621" y="7743780"/>
                </a:lnTo>
                <a:lnTo>
                  <a:pt x="0" y="7743780"/>
                </a:lnTo>
                <a:lnTo>
                  <a:pt x="0" y="0"/>
                </a:lnTo>
                <a:close/>
              </a:path>
            </a:pathLst>
          </a:custGeom>
          <a:blipFill>
            <a:blip r:embed="rId2">
              <a:alphaModFix amt="19999"/>
              <a:extLst>
                <a:ext uri="{96DAC541-7B7A-43D3-8B79-37D633B846F1}">
                  <asvg:svgBlip xmlns:asvg="http://schemas.microsoft.com/office/drawing/2016/SVG/main" xmlns="" r:embed="rId3"/>
                </a:ext>
              </a:extLst>
            </a:blip>
            <a:stretch>
              <a:fillRect/>
            </a:stretch>
          </a:blipFill>
        </p:spPr>
        <p:txBody>
          <a:bodyPr/>
          <a:lstStyle/>
          <a:p>
            <a:endParaRPr lang="es-ES"/>
          </a:p>
        </p:txBody>
      </p:sp>
      <p:sp>
        <p:nvSpPr>
          <p:cNvPr id="7" name="TextBox 7"/>
          <p:cNvSpPr txBox="1"/>
          <p:nvPr/>
        </p:nvSpPr>
        <p:spPr>
          <a:xfrm>
            <a:off x="1524000" y="837374"/>
            <a:ext cx="13703830" cy="927305"/>
          </a:xfrm>
          <a:prstGeom prst="rect">
            <a:avLst/>
          </a:prstGeom>
        </p:spPr>
        <p:txBody>
          <a:bodyPr lIns="0" tIns="0" rIns="0" bIns="0" rtlCol="0" anchor="t">
            <a:spAutoFit/>
          </a:bodyPr>
          <a:lstStyle/>
          <a:p>
            <a:pPr marL="0" lvl="0" indent="0" algn="l">
              <a:lnSpc>
                <a:spcPts val="7823"/>
              </a:lnSpc>
            </a:pPr>
            <a:r>
              <a:rPr lang="es-ES" sz="6018" spc="-300" dirty="0">
                <a:solidFill>
                  <a:srgbClr val="317F54"/>
                </a:solidFill>
                <a:latin typeface="Bobby Jones 2"/>
              </a:rPr>
              <a:t>Contenidos</a:t>
            </a:r>
          </a:p>
        </p:txBody>
      </p:sp>
      <p:pic>
        <p:nvPicPr>
          <p:cNvPr id="16" name="Imagen 15" descr="Una caricatura de una persona&#10;&#10;Descripción generada automáticamente con confianza media">
            <a:extLst>
              <a:ext uri="{FF2B5EF4-FFF2-40B4-BE49-F238E27FC236}">
                <a16:creationId xmlns:a16="http://schemas.microsoft.com/office/drawing/2014/main" id="{B732DBC2-AE85-A0AD-2ACC-F727C2AE9D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01600" y="1169115"/>
            <a:ext cx="5231174" cy="7948769"/>
          </a:xfrm>
          <a:prstGeom prst="rect">
            <a:avLst/>
          </a:prstGeom>
        </p:spPr>
      </p:pic>
      <p:sp>
        <p:nvSpPr>
          <p:cNvPr id="3" name="CuadroTexto 2">
            <a:extLst>
              <a:ext uri="{FF2B5EF4-FFF2-40B4-BE49-F238E27FC236}">
                <a16:creationId xmlns:a16="http://schemas.microsoft.com/office/drawing/2014/main" id="{E39F9130-7857-F6B4-DAAC-41EA9E9F82F9}"/>
              </a:ext>
            </a:extLst>
          </p:cNvPr>
          <p:cNvSpPr txBox="1"/>
          <p:nvPr/>
        </p:nvSpPr>
        <p:spPr>
          <a:xfrm>
            <a:off x="1371600" y="2857500"/>
            <a:ext cx="10972800" cy="4401205"/>
          </a:xfrm>
          <a:prstGeom prst="rect">
            <a:avLst/>
          </a:prstGeom>
          <a:noFill/>
        </p:spPr>
        <p:txBody>
          <a:bodyPr wrap="square">
            <a:spAutoFit/>
          </a:bodyPr>
          <a:lstStyle/>
          <a:p>
            <a:r>
              <a:rPr lang="es-ES" sz="2800" dirty="0">
                <a:solidFill>
                  <a:schemeClr val="accent6">
                    <a:lumMod val="75000"/>
                  </a:schemeClr>
                </a:solidFill>
                <a:latin typeface="Berlin Sans FB Demi" panose="020E0802020502020306" pitchFamily="34" charset="0"/>
              </a:rPr>
              <a:t>3.1. Todos los ODS están interrelacionados</a:t>
            </a:r>
          </a:p>
          <a:p>
            <a:r>
              <a:rPr lang="es-ES" sz="2800" dirty="0">
                <a:solidFill>
                  <a:schemeClr val="accent6">
                    <a:lumMod val="75000"/>
                  </a:schemeClr>
                </a:solidFill>
                <a:latin typeface="Berlin Sans FB Demi" panose="020E0802020502020306" pitchFamily="34" charset="0"/>
              </a:rPr>
              <a:t>3.2. Reto 1: evitar la superpoblación del planeta</a:t>
            </a:r>
          </a:p>
          <a:p>
            <a:r>
              <a:rPr lang="es-ES" sz="2800" dirty="0">
                <a:solidFill>
                  <a:schemeClr val="accent6">
                    <a:lumMod val="75000"/>
                  </a:schemeClr>
                </a:solidFill>
                <a:latin typeface="Berlin Sans FB Demi" panose="020E0802020502020306" pitchFamily="34" charset="0"/>
              </a:rPr>
              <a:t>3.3. Reto 2: frenar el despoblamiento de las áreas rurales</a:t>
            </a:r>
          </a:p>
          <a:p>
            <a:r>
              <a:rPr lang="es-ES" sz="2800" dirty="0">
                <a:solidFill>
                  <a:schemeClr val="accent6">
                    <a:lumMod val="75000"/>
                  </a:schemeClr>
                </a:solidFill>
                <a:latin typeface="Berlin Sans FB Demi" panose="020E0802020502020306" pitchFamily="34" charset="0"/>
              </a:rPr>
              <a:t>3.4. Reto 3: garantizar la salud y el bienestar a todas las edades</a:t>
            </a:r>
          </a:p>
          <a:p>
            <a:r>
              <a:rPr lang="es-ES" sz="2800" dirty="0">
                <a:solidFill>
                  <a:schemeClr val="accent6">
                    <a:lumMod val="75000"/>
                  </a:schemeClr>
                </a:solidFill>
                <a:latin typeface="Berlin Sans FB Demi" panose="020E0802020502020306" pitchFamily="34" charset="0"/>
              </a:rPr>
              <a:t>3.5. Reto 4: lograr la seguridad alimentaria</a:t>
            </a:r>
          </a:p>
          <a:p>
            <a:r>
              <a:rPr lang="es-ES" sz="2800" dirty="0">
                <a:solidFill>
                  <a:schemeClr val="accent6">
                    <a:lumMod val="75000"/>
                  </a:schemeClr>
                </a:solidFill>
                <a:latin typeface="Berlin Sans FB Demi" panose="020E0802020502020306" pitchFamily="34" charset="0"/>
              </a:rPr>
              <a:t>3.6. Reto 5: promover el empleo y garantizar la educación</a:t>
            </a:r>
          </a:p>
          <a:p>
            <a:r>
              <a:rPr lang="es-ES" sz="2800" dirty="0">
                <a:solidFill>
                  <a:schemeClr val="accent6">
                    <a:lumMod val="75000"/>
                  </a:schemeClr>
                </a:solidFill>
                <a:latin typeface="Berlin Sans FB Demi" panose="020E0802020502020306" pitchFamily="34" charset="0"/>
              </a:rPr>
              <a:t>3.7. Reto 6: acabar con la pobreza y con la desigualdad económica</a:t>
            </a:r>
          </a:p>
          <a:p>
            <a:r>
              <a:rPr lang="es-ES" sz="2800" dirty="0">
                <a:solidFill>
                  <a:schemeClr val="accent6">
                    <a:lumMod val="75000"/>
                  </a:schemeClr>
                </a:solidFill>
                <a:latin typeface="Berlin Sans FB Demi" panose="020E0802020502020306" pitchFamily="34" charset="0"/>
              </a:rPr>
              <a:t>3.8. Reto 7: lograr la igualdad de género</a:t>
            </a:r>
          </a:p>
          <a:p>
            <a:r>
              <a:rPr lang="es-ES" sz="2800" dirty="0">
                <a:solidFill>
                  <a:schemeClr val="accent6">
                    <a:lumMod val="75000"/>
                  </a:schemeClr>
                </a:solidFill>
                <a:latin typeface="Berlin Sans FB Demi" panose="020E0802020502020306" pitchFamily="34" charset="0"/>
              </a:rPr>
              <a:t>3.9. No dejar a nadie atrás: paz y alianzas para lograr los objetivos</a:t>
            </a:r>
          </a:p>
          <a:p>
            <a:r>
              <a:rPr lang="es-ES" sz="2800" dirty="0">
                <a:solidFill>
                  <a:schemeClr val="accent6">
                    <a:lumMod val="75000"/>
                  </a:schemeClr>
                </a:solidFill>
                <a:latin typeface="Berlin Sans FB Demi" panose="020E0802020502020306" pitchFamily="34" charset="0"/>
              </a:rPr>
              <a:t>3.10. Educar ambientalmente a la ciudadanía</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C529970-2E93-70D7-7192-761FC3538AC9}"/>
              </a:ext>
            </a:extLst>
          </p:cNvPr>
          <p:cNvSpPr txBox="1"/>
          <p:nvPr/>
        </p:nvSpPr>
        <p:spPr>
          <a:xfrm>
            <a:off x="4119562" y="1444274"/>
            <a:ext cx="11272838" cy="707886"/>
          </a:xfrm>
          <a:prstGeom prst="rect">
            <a:avLst/>
          </a:prstGeom>
          <a:noFill/>
        </p:spPr>
        <p:txBody>
          <a:bodyPr wrap="square">
            <a:spAutoFit/>
          </a:bodyPr>
          <a:lstStyle/>
          <a:p>
            <a:r>
              <a:rPr lang="es-ES" sz="4000" dirty="0">
                <a:solidFill>
                  <a:schemeClr val="accent6">
                    <a:lumMod val="75000"/>
                  </a:schemeClr>
                </a:solidFill>
                <a:latin typeface="Berlin Sans FB Demi" panose="020E0802020502020306" pitchFamily="34" charset="0"/>
              </a:rPr>
              <a:t>3.1. Todos los ODS están interrelacionados</a:t>
            </a:r>
          </a:p>
        </p:txBody>
      </p:sp>
      <p:sp>
        <p:nvSpPr>
          <p:cNvPr id="7" name="CuadroTexto 6">
            <a:extLst>
              <a:ext uri="{FF2B5EF4-FFF2-40B4-BE49-F238E27FC236}">
                <a16:creationId xmlns:a16="http://schemas.microsoft.com/office/drawing/2014/main" id="{F4A8DA62-DB8F-B740-97D2-22790F7014F9}"/>
              </a:ext>
            </a:extLst>
          </p:cNvPr>
          <p:cNvSpPr txBox="1"/>
          <p:nvPr/>
        </p:nvSpPr>
        <p:spPr>
          <a:xfrm>
            <a:off x="1371600" y="5900137"/>
            <a:ext cx="9144000" cy="584775"/>
          </a:xfrm>
          <a:prstGeom prst="rect">
            <a:avLst/>
          </a:prstGeom>
          <a:noFill/>
        </p:spPr>
        <p:txBody>
          <a:bodyPr wrap="square">
            <a:spAutoFit/>
          </a:bodyPr>
          <a:lstStyle/>
          <a:p>
            <a:r>
              <a:rPr lang="es-ES" sz="3200" dirty="0">
                <a:solidFill>
                  <a:schemeClr val="accent6">
                    <a:lumMod val="75000"/>
                  </a:schemeClr>
                </a:solidFill>
                <a:latin typeface="Berlin Sans FB Demi" panose="020E0802020502020306" pitchFamily="34" charset="0"/>
              </a:rPr>
              <a:t>3.2. Reto 1: evitar la superpoblación del planeta</a:t>
            </a:r>
          </a:p>
        </p:txBody>
      </p:sp>
      <p:sp>
        <p:nvSpPr>
          <p:cNvPr id="9" name="CuadroTexto 8">
            <a:extLst>
              <a:ext uri="{FF2B5EF4-FFF2-40B4-BE49-F238E27FC236}">
                <a16:creationId xmlns:a16="http://schemas.microsoft.com/office/drawing/2014/main" id="{C46B1F11-C0BC-77DA-28DC-F6139E3F615A}"/>
              </a:ext>
            </a:extLst>
          </p:cNvPr>
          <p:cNvSpPr txBox="1"/>
          <p:nvPr/>
        </p:nvSpPr>
        <p:spPr>
          <a:xfrm>
            <a:off x="4129087" y="2491800"/>
            <a:ext cx="10029826" cy="1569660"/>
          </a:xfrm>
          <a:prstGeom prst="rect">
            <a:avLst/>
          </a:prstGeom>
          <a:noFill/>
        </p:spPr>
        <p:txBody>
          <a:bodyPr wrap="square">
            <a:spAutoFit/>
          </a:bodyPr>
          <a:lstStyle/>
          <a:p>
            <a:r>
              <a:rPr lang="es-ES" sz="2400" dirty="0"/>
              <a:t>Hasta el momento se han presentado los ODS que se encuentran más directamente relacionados con los retos ambientales que enfrenta la humanidad. No obstante, los ODS ambientales también guardan relación con las dimensiones económica y social del desarrollo sostenible</a:t>
            </a:r>
          </a:p>
        </p:txBody>
      </p:sp>
      <p:sp>
        <p:nvSpPr>
          <p:cNvPr id="11" name="CuadroTexto 10">
            <a:extLst>
              <a:ext uri="{FF2B5EF4-FFF2-40B4-BE49-F238E27FC236}">
                <a16:creationId xmlns:a16="http://schemas.microsoft.com/office/drawing/2014/main" id="{EF9AEE7B-5F83-6FC7-DFFA-A574D3B47DA3}"/>
              </a:ext>
            </a:extLst>
          </p:cNvPr>
          <p:cNvSpPr txBox="1"/>
          <p:nvPr/>
        </p:nvSpPr>
        <p:spPr>
          <a:xfrm>
            <a:off x="1371600" y="6963092"/>
            <a:ext cx="9344025" cy="1846659"/>
          </a:xfrm>
          <a:prstGeom prst="rect">
            <a:avLst/>
          </a:prstGeom>
          <a:noFill/>
        </p:spPr>
        <p:txBody>
          <a:bodyPr wrap="square">
            <a:spAutoFit/>
          </a:bodyPr>
          <a:lstStyle/>
          <a:p>
            <a:r>
              <a:rPr lang="es-ES" sz="2400" dirty="0"/>
              <a:t>La población mundial superó los 8000 millones de personas en el 2022. Se prevé que para el año 2050 alcance los 9700 millones, teniendo y tendrán derecho a cubrir sus necesidades básicas de alimento, agua, refugio, vestido…</a:t>
            </a:r>
          </a:p>
          <a:p>
            <a:endParaRPr lang="es-ES" dirty="0"/>
          </a:p>
        </p:txBody>
      </p:sp>
      <p:pic>
        <p:nvPicPr>
          <p:cNvPr id="13" name="Imagen 12" descr="Caras sonrientes de tres niños con las cabezas juntas, la cabeza del centro aparece al revés">
            <a:extLst>
              <a:ext uri="{FF2B5EF4-FFF2-40B4-BE49-F238E27FC236}">
                <a16:creationId xmlns:a16="http://schemas.microsoft.com/office/drawing/2014/main" id="{0C26F614-F34D-5682-70B4-ED8B92BE9F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32831" y="4375249"/>
            <a:ext cx="6328989" cy="4219326"/>
          </a:xfrm>
          <a:prstGeom prst="rect">
            <a:avLst/>
          </a:prstGeom>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pic>
      <p:cxnSp>
        <p:nvCxnSpPr>
          <p:cNvPr id="15" name="Conector: angular 14">
            <a:extLst>
              <a:ext uri="{FF2B5EF4-FFF2-40B4-BE49-F238E27FC236}">
                <a16:creationId xmlns:a16="http://schemas.microsoft.com/office/drawing/2014/main" id="{7C9B183A-2ACE-6B58-68CC-1104521FA467}"/>
              </a:ext>
            </a:extLst>
          </p:cNvPr>
          <p:cNvCxnSpPr/>
          <p:nvPr/>
        </p:nvCxnSpPr>
        <p:spPr>
          <a:xfrm rot="16200000" flipH="1">
            <a:off x="223312" y="2619047"/>
            <a:ext cx="4176000" cy="1908000"/>
          </a:xfrm>
          <a:prstGeom prst="bentConnector3">
            <a:avLst>
              <a:gd name="adj1" fmla="val 50001"/>
            </a:avLst>
          </a:prstGeom>
          <a:ln/>
        </p:spPr>
        <p:style>
          <a:lnRef idx="3">
            <a:schemeClr val="accent5"/>
          </a:lnRef>
          <a:fillRef idx="0">
            <a:schemeClr val="accent5"/>
          </a:fillRef>
          <a:effectRef idx="2">
            <a:schemeClr val="accent5"/>
          </a:effectRef>
          <a:fontRef idx="minor">
            <a:schemeClr val="tx1"/>
          </a:fontRef>
        </p:style>
      </p:cxnSp>
      <p:pic>
        <p:nvPicPr>
          <p:cNvPr id="18" name="Gráfico 17" descr="Colegiala contorno">
            <a:extLst>
              <a:ext uri="{FF2B5EF4-FFF2-40B4-BE49-F238E27FC236}">
                <a16:creationId xmlns:a16="http://schemas.microsoft.com/office/drawing/2014/main" id="{3AD867BB-F7C5-603E-8EDD-3A57CE51E728}"/>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854112" y="2029049"/>
            <a:ext cx="914400" cy="914400"/>
          </a:xfrm>
          <a:prstGeom prst="rect">
            <a:avLst/>
          </a:prstGeom>
        </p:spPr>
      </p:pic>
      <p:pic>
        <p:nvPicPr>
          <p:cNvPr id="20" name="Gráfico 19" descr="Cachorrito contorno">
            <a:extLst>
              <a:ext uri="{FF2B5EF4-FFF2-40B4-BE49-F238E27FC236}">
                <a16:creationId xmlns:a16="http://schemas.microsoft.com/office/drawing/2014/main" id="{9C155956-27AF-F9F6-AA3C-BBFF31F4FEEB}"/>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873162" y="4229100"/>
            <a:ext cx="914400" cy="914400"/>
          </a:xfrm>
          <a:prstGeom prst="rect">
            <a:avLst/>
          </a:prstGeom>
        </p:spPr>
      </p:pic>
    </p:spTree>
    <p:extLst>
      <p:ext uri="{BB962C8B-B14F-4D97-AF65-F5344CB8AC3E}">
        <p14:creationId xmlns:p14="http://schemas.microsoft.com/office/powerpoint/2010/main" val="3353864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FFED4CE-D69A-C8E0-1BF6-2BD668F1D8DB}"/>
              </a:ext>
            </a:extLst>
          </p:cNvPr>
          <p:cNvSpPr txBox="1"/>
          <p:nvPr/>
        </p:nvSpPr>
        <p:spPr>
          <a:xfrm>
            <a:off x="1257300" y="547688"/>
            <a:ext cx="12611100" cy="1988345"/>
          </a:xfrm>
          <a:prstGeom prst="rect">
            <a:avLst/>
          </a:prstGeom>
        </p:spPr>
        <p:txBody>
          <a:bodyPr vert="horz" lIns="91440" tIns="45720" rIns="91440" bIns="45720" rtlCol="0" anchor="ctr">
            <a:normAutofit/>
          </a:bodyPr>
          <a:lstStyle/>
          <a:p>
            <a:pPr defTabSz="1371600">
              <a:lnSpc>
                <a:spcPct val="90000"/>
              </a:lnSpc>
              <a:spcBef>
                <a:spcPct val="0"/>
              </a:spcBef>
              <a:spcAft>
                <a:spcPts val="600"/>
              </a:spcAft>
            </a:pPr>
            <a:r>
              <a:rPr lang="es-ES" sz="4400" kern="1200" dirty="0">
                <a:solidFill>
                  <a:schemeClr val="accent6">
                    <a:lumMod val="75000"/>
                  </a:schemeClr>
                </a:solidFill>
                <a:latin typeface="Berlin Sans FB Demi" panose="020E0802020502020306" pitchFamily="34" charset="0"/>
                <a:ea typeface="+mj-ea"/>
                <a:cs typeface="+mj-cs"/>
              </a:rPr>
              <a:t>3.2.1. La huella ecológica estima la capacidad de soporte de la Tierra</a:t>
            </a:r>
          </a:p>
        </p:txBody>
      </p:sp>
      <p:pic>
        <p:nvPicPr>
          <p:cNvPr id="9" name="Picture 8" descr="Una huella digital en blanco y negro">
            <a:extLst>
              <a:ext uri="{FF2B5EF4-FFF2-40B4-BE49-F238E27FC236}">
                <a16:creationId xmlns:a16="http://schemas.microsoft.com/office/drawing/2014/main" id="{39E4B0F7-56DB-0D63-C2A0-6A83F3007A90}"/>
              </a:ext>
            </a:extLst>
          </p:cNvPr>
          <p:cNvPicPr>
            <a:picLocks noChangeAspect="1"/>
          </p:cNvPicPr>
          <p:nvPr/>
        </p:nvPicPr>
        <p:blipFill>
          <a:blip r:embed="rId2"/>
          <a:srcRect l="8487" r="12027" b="1"/>
          <a:stretch/>
        </p:blipFill>
        <p:spPr>
          <a:xfrm>
            <a:off x="1257300" y="2738438"/>
            <a:ext cx="7772400" cy="6527007"/>
          </a:xfrm>
          <a:prstGeom prst="rect">
            <a:avLst/>
          </a:prstGeom>
          <a:noFill/>
        </p:spPr>
      </p:pic>
      <p:sp>
        <p:nvSpPr>
          <p:cNvPr id="7" name="CuadroTexto 6">
            <a:extLst>
              <a:ext uri="{FF2B5EF4-FFF2-40B4-BE49-F238E27FC236}">
                <a16:creationId xmlns:a16="http://schemas.microsoft.com/office/drawing/2014/main" id="{326A7B66-EDDA-0853-8BCC-C0209AC89352}"/>
              </a:ext>
            </a:extLst>
          </p:cNvPr>
          <p:cNvSpPr txBox="1"/>
          <p:nvPr/>
        </p:nvSpPr>
        <p:spPr>
          <a:xfrm>
            <a:off x="9525000" y="4457700"/>
            <a:ext cx="7772400" cy="2590800"/>
          </a:xfrm>
          <a:prstGeom prst="rect">
            <a:avLst/>
          </a:prstGeom>
        </p:spPr>
        <p:txBody>
          <a:bodyPr vert="horz" lIns="91440" tIns="45720" rIns="91440" bIns="45720" rtlCol="0">
            <a:normAutofit fontScale="92500"/>
          </a:bodyPr>
          <a:lstStyle/>
          <a:p>
            <a:pPr defTabSz="1371600">
              <a:lnSpc>
                <a:spcPct val="90000"/>
              </a:lnSpc>
              <a:spcBef>
                <a:spcPts val="1500"/>
              </a:spcBef>
            </a:pPr>
            <a:r>
              <a:rPr lang="es-ES" sz="2800" dirty="0"/>
              <a:t>Trabajando con el concepto de huella ecológica, diferentes estudios han estimado que la capacidad de carga del planeta se podría redondear a 5000 millones de seres humanos viviendo con los estándares económicos medios de los años mil novecientos ochenta.</a:t>
            </a:r>
          </a:p>
        </p:txBody>
      </p:sp>
    </p:spTree>
    <p:extLst>
      <p:ext uri="{BB962C8B-B14F-4D97-AF65-F5344CB8AC3E}">
        <p14:creationId xmlns:p14="http://schemas.microsoft.com/office/powerpoint/2010/main" val="30446971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4695CA-24C4-6B13-3EDB-14A36796CC3A}"/>
              </a:ext>
            </a:extLst>
          </p:cNvPr>
          <p:cNvSpPr>
            <a:spLocks noGrp="1"/>
          </p:cNvSpPr>
          <p:nvPr>
            <p:ph type="title"/>
          </p:nvPr>
        </p:nvSpPr>
        <p:spPr/>
        <p:txBody>
          <a:bodyPr vert="horz" lIns="91440" tIns="45720" rIns="91440" bIns="45720" rtlCol="0" anchor="b">
            <a:normAutofit/>
          </a:bodyPr>
          <a:lstStyle/>
          <a:p>
            <a:r>
              <a:rPr lang="es-ES" sz="4100" kern="1200" dirty="0">
                <a:solidFill>
                  <a:schemeClr val="accent6">
                    <a:lumMod val="75000"/>
                  </a:schemeClr>
                </a:solidFill>
                <a:latin typeface="Berlin Sans FB Demi" panose="020E0802020502020306" pitchFamily="34" charset="0"/>
              </a:rPr>
              <a:t>3.2.2. Todos los ODS contemplan la superpoblación del planeta</a:t>
            </a:r>
          </a:p>
        </p:txBody>
      </p:sp>
      <p:pic>
        <p:nvPicPr>
          <p:cNvPr id="6" name="Picture 5" descr="Ilustración de bola de nieve">
            <a:extLst>
              <a:ext uri="{FF2B5EF4-FFF2-40B4-BE49-F238E27FC236}">
                <a16:creationId xmlns:a16="http://schemas.microsoft.com/office/drawing/2014/main" id="{C0B49F06-3263-E751-EA9E-6EF904269912}"/>
              </a:ext>
            </a:extLst>
          </p:cNvPr>
          <p:cNvPicPr>
            <a:picLocks noChangeAspect="1"/>
          </p:cNvPicPr>
          <p:nvPr/>
        </p:nvPicPr>
        <p:blipFill>
          <a:blip r:embed="rId2"/>
          <a:srcRect l="1389" r="15256" b="1"/>
          <a:stretch/>
        </p:blipFill>
        <p:spPr>
          <a:xfrm>
            <a:off x="8534400" y="1832610"/>
            <a:ext cx="8705254" cy="731043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7" name="CuadroTexto 6">
            <a:extLst>
              <a:ext uri="{FF2B5EF4-FFF2-40B4-BE49-F238E27FC236}">
                <a16:creationId xmlns:a16="http://schemas.microsoft.com/office/drawing/2014/main" id="{710890B8-45D8-1BD5-56FB-1EA4A0E63057}"/>
              </a:ext>
            </a:extLst>
          </p:cNvPr>
          <p:cNvSpPr txBox="1"/>
          <p:nvPr/>
        </p:nvSpPr>
        <p:spPr>
          <a:xfrm>
            <a:off x="1259682" y="3795713"/>
            <a:ext cx="5898356" cy="2400300"/>
          </a:xfrm>
          <a:prstGeom prst="rect">
            <a:avLst/>
          </a:prstGeom>
        </p:spPr>
        <p:txBody>
          <a:bodyPr vert="horz" lIns="91440" tIns="45720" rIns="91440" bIns="45720" rtlCol="0">
            <a:normAutofit fontScale="92500" lnSpcReduction="10000"/>
          </a:bodyPr>
          <a:lstStyle/>
          <a:p>
            <a:pPr defTabSz="1371600">
              <a:lnSpc>
                <a:spcPct val="90000"/>
              </a:lnSpc>
              <a:spcBef>
                <a:spcPts val="1500"/>
              </a:spcBef>
            </a:pPr>
            <a:r>
              <a:rPr lang="es-ES" sz="2200" kern="1200" dirty="0">
                <a:latin typeface="+mn-lt"/>
                <a:ea typeface="+mn-ea"/>
                <a:cs typeface="+mn-cs"/>
              </a:rPr>
              <a:t>El reto de la superpoblación mundial está presente en todos los ODS de la Agenda 2030, aunque solo de forma implícita a través de los indicadores de las metas. Por ejemplo, el indicador 3.7.1 evalúa la proporción de mujeres en edad de procrear que cubren sus necesidades de planificación familiar.</a:t>
            </a:r>
          </a:p>
        </p:txBody>
      </p:sp>
      <p:sp>
        <p:nvSpPr>
          <p:cNvPr id="9" name="CuadroTexto 8">
            <a:extLst>
              <a:ext uri="{FF2B5EF4-FFF2-40B4-BE49-F238E27FC236}">
                <a16:creationId xmlns:a16="http://schemas.microsoft.com/office/drawing/2014/main" id="{33794843-4E22-BA5C-8F9E-FB43E350714F}"/>
              </a:ext>
            </a:extLst>
          </p:cNvPr>
          <p:cNvSpPr txBox="1"/>
          <p:nvPr/>
        </p:nvSpPr>
        <p:spPr>
          <a:xfrm>
            <a:off x="1259682" y="6196013"/>
            <a:ext cx="5898355" cy="1785104"/>
          </a:xfrm>
          <a:prstGeom prst="rect">
            <a:avLst/>
          </a:prstGeom>
          <a:noFill/>
        </p:spPr>
        <p:txBody>
          <a:bodyPr wrap="square">
            <a:spAutoFit/>
          </a:bodyPr>
          <a:lstStyle/>
          <a:p>
            <a:r>
              <a:rPr lang="es-ES" sz="2200" dirty="0"/>
              <a:t>En definitiva, la combinación actual de </a:t>
            </a:r>
          </a:p>
          <a:p>
            <a:r>
              <a:rPr lang="es-ES" sz="2200" dirty="0"/>
              <a:t>más población y más demanda de recursos per cápita es claramente insostenible </a:t>
            </a:r>
          </a:p>
          <a:p>
            <a:r>
              <a:rPr lang="es-ES" sz="2200" dirty="0"/>
              <a:t>y, aún peor, cuanto mayor sea la población mundial, más crecerá esta insostenibilidad. </a:t>
            </a:r>
          </a:p>
        </p:txBody>
      </p:sp>
    </p:spTree>
    <p:extLst>
      <p:ext uri="{BB962C8B-B14F-4D97-AF65-F5344CB8AC3E}">
        <p14:creationId xmlns:p14="http://schemas.microsoft.com/office/powerpoint/2010/main" val="3878913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0246E2-C1DA-EDEE-8214-DEBB7CCA2582}"/>
              </a:ext>
            </a:extLst>
          </p:cNvPr>
          <p:cNvSpPr>
            <a:spLocks noGrp="1"/>
          </p:cNvSpPr>
          <p:nvPr>
            <p:ph type="title"/>
          </p:nvPr>
        </p:nvSpPr>
        <p:spPr>
          <a:xfrm>
            <a:off x="8482680" y="1104900"/>
            <a:ext cx="8534399" cy="3202074"/>
          </a:xfrm>
        </p:spPr>
        <p:txBody>
          <a:bodyPr vert="horz" lIns="91440" tIns="45720" rIns="91440" bIns="45720" rtlCol="0" anchor="b">
            <a:normAutofit/>
          </a:bodyPr>
          <a:lstStyle/>
          <a:p>
            <a:pPr algn="r" defTabSz="914400"/>
            <a:r>
              <a:rPr lang="es-ES" sz="7200" kern="1200" dirty="0">
                <a:solidFill>
                  <a:schemeClr val="accent6">
                    <a:lumMod val="75000"/>
                  </a:schemeClr>
                </a:solidFill>
                <a:latin typeface="Berlin Sans FB Demi" panose="020E0802020502020306" pitchFamily="34" charset="0"/>
              </a:rPr>
              <a:t>3.2.3. ¿Cómo reducir el impacto de la superpoblación?</a:t>
            </a:r>
          </a:p>
        </p:txBody>
      </p:sp>
      <p:sp>
        <p:nvSpPr>
          <p:cNvPr id="12" name="CuadroTexto 11">
            <a:extLst>
              <a:ext uri="{FF2B5EF4-FFF2-40B4-BE49-F238E27FC236}">
                <a16:creationId xmlns:a16="http://schemas.microsoft.com/office/drawing/2014/main" id="{FE1D09D2-3EF4-D973-080E-B5D00CA40A0E}"/>
              </a:ext>
            </a:extLst>
          </p:cNvPr>
          <p:cNvSpPr txBox="1"/>
          <p:nvPr/>
        </p:nvSpPr>
        <p:spPr>
          <a:xfrm>
            <a:off x="9223441" y="4686300"/>
            <a:ext cx="7824118" cy="2677656"/>
          </a:xfrm>
          <a:prstGeom prst="rect">
            <a:avLst/>
          </a:prstGeom>
          <a:noFill/>
        </p:spPr>
        <p:txBody>
          <a:bodyPr wrap="square">
            <a:spAutoFit/>
          </a:bodyPr>
          <a:lstStyle/>
          <a:p>
            <a:r>
              <a:rPr lang="es-ES" sz="2400" dirty="0"/>
              <a:t>Los avances tecnológicos probablemente  logren reducir los dos componentes de la huella ecológica: la huella de carbono y la huella de tierras de cultivo. La huella de carbono aporta el 60 % de la huella ecológica total,  por su parte la huella de tierras de cultivo representa el 19 % , además, la contención de la huella de las tierras de cultivo permitiría reducir conjuntamente la huella hídrica.</a:t>
            </a:r>
          </a:p>
        </p:txBody>
      </p:sp>
      <p:pic>
        <p:nvPicPr>
          <p:cNvPr id="7" name="Imagen 6" descr="Icono&#10;&#10;Descripción generada automáticamente">
            <a:extLst>
              <a:ext uri="{FF2B5EF4-FFF2-40B4-BE49-F238E27FC236}">
                <a16:creationId xmlns:a16="http://schemas.microsoft.com/office/drawing/2014/main" id="{DD4CA87B-C14F-E9B1-F9E6-65FA8AFB18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
            <a:ext cx="8839200" cy="9678365"/>
          </a:xfrm>
          <a:prstGeom prst="ellipse">
            <a:avLst/>
          </a:prstGeom>
          <a:ln>
            <a:noFill/>
          </a:ln>
          <a:effectLst>
            <a:softEdge rad="112500"/>
          </a:effectLst>
        </p:spPr>
      </p:pic>
    </p:spTree>
    <p:extLst>
      <p:ext uri="{BB962C8B-B14F-4D97-AF65-F5344CB8AC3E}">
        <p14:creationId xmlns:p14="http://schemas.microsoft.com/office/powerpoint/2010/main" val="263364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descr="Un dibujo de un emparedado&#10;&#10;Descripción generada automáticamente">
            <a:extLst>
              <a:ext uri="{FF2B5EF4-FFF2-40B4-BE49-F238E27FC236}">
                <a16:creationId xmlns:a16="http://schemas.microsoft.com/office/drawing/2014/main" id="{F642E55C-D026-6506-21AB-F2E5B52778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0" y="1943100"/>
            <a:ext cx="12831445" cy="7408289"/>
          </a:xfrm>
          <a:prstGeom prst="rect">
            <a:avLst/>
          </a:prstGeom>
          <a:ln>
            <a:noFill/>
          </a:ln>
          <a:effectLst>
            <a:softEdge rad="112500"/>
          </a:effectLst>
        </p:spPr>
      </p:pic>
      <p:sp>
        <p:nvSpPr>
          <p:cNvPr id="10" name="CuadroTexto 9">
            <a:extLst>
              <a:ext uri="{FF2B5EF4-FFF2-40B4-BE49-F238E27FC236}">
                <a16:creationId xmlns:a16="http://schemas.microsoft.com/office/drawing/2014/main" id="{A9ACF470-514E-320E-1CB4-C860EB9C4E21}"/>
              </a:ext>
            </a:extLst>
          </p:cNvPr>
          <p:cNvSpPr txBox="1"/>
          <p:nvPr/>
        </p:nvSpPr>
        <p:spPr>
          <a:xfrm>
            <a:off x="2590800" y="940373"/>
            <a:ext cx="9906000" cy="954107"/>
          </a:xfrm>
          <a:prstGeom prst="rect">
            <a:avLst/>
          </a:prstGeom>
          <a:noFill/>
        </p:spPr>
        <p:txBody>
          <a:bodyPr wrap="square">
            <a:spAutoFit/>
          </a:bodyPr>
          <a:lstStyle/>
          <a:p>
            <a:r>
              <a:rPr lang="es-ES" dirty="0"/>
              <a:t> </a:t>
            </a:r>
            <a:r>
              <a:rPr lang="es-ES" sz="2800" dirty="0"/>
              <a:t>Huella hídrica de una hamburguesa en litros de agua por ingrediente. </a:t>
            </a:r>
            <a:endParaRPr lang="es-ES" dirty="0"/>
          </a:p>
        </p:txBody>
      </p:sp>
    </p:spTree>
    <p:extLst>
      <p:ext uri="{BB962C8B-B14F-4D97-AF65-F5344CB8AC3E}">
        <p14:creationId xmlns:p14="http://schemas.microsoft.com/office/powerpoint/2010/main" val="4086237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60AFAAC-EA6C-45A9-9E03-C9C9F0193B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Montoncitos de polvo de distintos colores">
            <a:extLst>
              <a:ext uri="{FF2B5EF4-FFF2-40B4-BE49-F238E27FC236}">
                <a16:creationId xmlns:a16="http://schemas.microsoft.com/office/drawing/2014/main" id="{E8C0085B-E8C7-80E0-B7DC-94D4EFDC0B9C}"/>
              </a:ext>
            </a:extLst>
          </p:cNvPr>
          <p:cNvPicPr>
            <a:picLocks noChangeAspect="1"/>
          </p:cNvPicPr>
          <p:nvPr/>
        </p:nvPicPr>
        <p:blipFill>
          <a:blip r:embed="rId2"/>
          <a:srcRect l="10840" r="24949" b="1"/>
          <a:stretch/>
        </p:blipFill>
        <p:spPr>
          <a:xfrm>
            <a:off x="7324533" y="10"/>
            <a:ext cx="10963467" cy="10286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15" name="Freeform: Shape 14">
            <a:extLst>
              <a:ext uri="{FF2B5EF4-FFF2-40B4-BE49-F238E27FC236}">
                <a16:creationId xmlns:a16="http://schemas.microsoft.com/office/drawing/2014/main" id="{83549E37-C86B-4401-90BD-D8BF83859F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1" cy="10287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8A17784E-76D8-4521-A77D-0D2EBB9230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0285" cy="10287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5C2150F-9495-AAF8-41FD-FC76D6DE9878}"/>
              </a:ext>
            </a:extLst>
          </p:cNvPr>
          <p:cNvSpPr>
            <a:spLocks noGrp="1"/>
          </p:cNvSpPr>
          <p:nvPr>
            <p:ph type="title"/>
          </p:nvPr>
        </p:nvSpPr>
        <p:spPr>
          <a:xfrm>
            <a:off x="562356" y="1284732"/>
            <a:ext cx="7488936" cy="1865376"/>
          </a:xfrm>
        </p:spPr>
        <p:txBody>
          <a:bodyPr vert="horz" lIns="91440" tIns="45720" rIns="91440" bIns="45720" rtlCol="0" anchor="ctr">
            <a:normAutofit fontScale="90000"/>
          </a:bodyPr>
          <a:lstStyle/>
          <a:p>
            <a:pPr defTabSz="914400"/>
            <a:r>
              <a:rPr lang="es-ES" sz="5100" dirty="0">
                <a:solidFill>
                  <a:schemeClr val="accent6">
                    <a:lumMod val="75000"/>
                  </a:schemeClr>
                </a:solidFill>
                <a:latin typeface="Berlin Sans FB Demi" panose="020E0802020502020306" pitchFamily="34" charset="0"/>
              </a:rPr>
              <a:t>3.2.4. La controversia sobre el control de la natalidad</a:t>
            </a:r>
          </a:p>
        </p:txBody>
      </p:sp>
      <p:sp>
        <p:nvSpPr>
          <p:cNvPr id="19" name="Rectangle 18">
            <a:extLst>
              <a:ext uri="{FF2B5EF4-FFF2-40B4-BE49-F238E27FC236}">
                <a16:creationId xmlns:a16="http://schemas.microsoft.com/office/drawing/2014/main" id="{C0036C6B-F09C-4EAB-AE02-8D056EE748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6487"/>
            <a:ext cx="192024" cy="9808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FC8D5885-2804-4D3C-BE31-902E4D3279B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653" y="3293004"/>
            <a:ext cx="7475220" cy="27432"/>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CuadroTexto 5">
            <a:extLst>
              <a:ext uri="{FF2B5EF4-FFF2-40B4-BE49-F238E27FC236}">
                <a16:creationId xmlns:a16="http://schemas.microsoft.com/office/drawing/2014/main" id="{C0D22FB8-ED49-F6AD-7BC7-96C70CBE5DFC}"/>
              </a:ext>
            </a:extLst>
          </p:cNvPr>
          <p:cNvSpPr txBox="1"/>
          <p:nvPr/>
        </p:nvSpPr>
        <p:spPr>
          <a:xfrm>
            <a:off x="562356" y="3784423"/>
            <a:ext cx="7972044" cy="5103545"/>
          </a:xfrm>
          <a:prstGeom prst="rect">
            <a:avLst/>
          </a:prstGeom>
        </p:spPr>
        <p:txBody>
          <a:bodyPr vert="horz" lIns="91440" tIns="45720" rIns="91440" bIns="45720" rtlCol="0" anchor="t">
            <a:normAutofit fontScale="92500" lnSpcReduction="10000"/>
          </a:bodyPr>
          <a:lstStyle/>
          <a:p>
            <a:pPr>
              <a:lnSpc>
                <a:spcPct val="90000"/>
              </a:lnSpc>
              <a:spcBef>
                <a:spcPts val="1500"/>
              </a:spcBef>
            </a:pPr>
            <a:r>
              <a:rPr lang="es-ES" sz="2800" dirty="0"/>
              <a:t>China y la India, los dos países más poblados del  planeta han aplicado este tipo de política en el pasado reciente. Sin embargo, la experiencia ha demostrado que las políticas agresivas no son necesarias para reducir la tasa de natalidad, basta con que los niños y niñas, especialmente estas últimas, puedan acceder a la educación. La Agenda 2030 no contiene ningún ODS explícito acerca de la sobrepoblación, pero promueve el acceso  universal a la planificación familiar y considera el acceso a los anticonceptivos un derecho humano.</a:t>
            </a:r>
          </a:p>
        </p:txBody>
      </p:sp>
    </p:spTree>
    <p:extLst>
      <p:ext uri="{BB962C8B-B14F-4D97-AF65-F5344CB8AC3E}">
        <p14:creationId xmlns:p14="http://schemas.microsoft.com/office/powerpoint/2010/main" val="162095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826C73-257C-C55D-C6E5-46DCD2772F92}"/>
              </a:ext>
            </a:extLst>
          </p:cNvPr>
          <p:cNvSpPr>
            <a:spLocks noGrp="1"/>
          </p:cNvSpPr>
          <p:nvPr>
            <p:ph type="title"/>
          </p:nvPr>
        </p:nvSpPr>
        <p:spPr/>
        <p:txBody>
          <a:bodyPr vert="horz" lIns="91440" tIns="45720" rIns="91440" bIns="45720" rtlCol="0" anchor="ctr">
            <a:normAutofit/>
          </a:bodyPr>
          <a:lstStyle/>
          <a:p>
            <a:r>
              <a:rPr lang="es-ES" sz="5400" kern="1200" dirty="0">
                <a:solidFill>
                  <a:schemeClr val="accent6">
                    <a:lumMod val="75000"/>
                  </a:schemeClr>
                </a:solidFill>
                <a:latin typeface="Berlin Sans FB Demi" panose="020E0802020502020306" pitchFamily="34" charset="0"/>
              </a:rPr>
              <a:t>3.3. Reto 2: frenar el despoblamiento </a:t>
            </a:r>
            <a:br>
              <a:rPr lang="es-ES" sz="5400" kern="1200" dirty="0">
                <a:solidFill>
                  <a:schemeClr val="accent6">
                    <a:lumMod val="75000"/>
                  </a:schemeClr>
                </a:solidFill>
                <a:latin typeface="Berlin Sans FB Demi" panose="020E0802020502020306" pitchFamily="34" charset="0"/>
              </a:rPr>
            </a:br>
            <a:r>
              <a:rPr lang="es-ES" sz="5400" kern="1200" dirty="0">
                <a:solidFill>
                  <a:schemeClr val="accent6">
                    <a:lumMod val="75000"/>
                  </a:schemeClr>
                </a:solidFill>
                <a:latin typeface="Berlin Sans FB Demi" panose="020E0802020502020306" pitchFamily="34" charset="0"/>
              </a:rPr>
              <a:t>de las áreas rurales</a:t>
            </a:r>
          </a:p>
        </p:txBody>
      </p:sp>
      <p:sp>
        <p:nvSpPr>
          <p:cNvPr id="10" name="CuadroTexto 9">
            <a:extLst>
              <a:ext uri="{FF2B5EF4-FFF2-40B4-BE49-F238E27FC236}">
                <a16:creationId xmlns:a16="http://schemas.microsoft.com/office/drawing/2014/main" id="{F19BC6AD-3A38-74AC-D56A-0E7199B5C947}"/>
              </a:ext>
            </a:extLst>
          </p:cNvPr>
          <p:cNvSpPr txBox="1"/>
          <p:nvPr/>
        </p:nvSpPr>
        <p:spPr>
          <a:xfrm>
            <a:off x="1259683" y="3355778"/>
            <a:ext cx="8570117" cy="1402555"/>
          </a:xfrm>
          <a:prstGeom prst="rect">
            <a:avLst/>
          </a:prstGeom>
        </p:spPr>
        <p:txBody>
          <a:bodyPr vert="horz" lIns="91440" tIns="45720" rIns="91440" bIns="45720" rtlCol="0" anchor="b">
            <a:noAutofit/>
          </a:bodyPr>
          <a:lstStyle/>
          <a:p>
            <a:pPr defTabSz="1371600">
              <a:lnSpc>
                <a:spcPct val="90000"/>
              </a:lnSpc>
              <a:spcBef>
                <a:spcPts val="1500"/>
              </a:spcBef>
            </a:pPr>
            <a:r>
              <a:rPr lang="es-ES" sz="2200" dirty="0"/>
              <a:t>L</a:t>
            </a:r>
            <a:r>
              <a:rPr lang="es-ES" sz="2200" kern="1200" dirty="0">
                <a:latin typeface="+mn-lt"/>
                <a:ea typeface="+mn-ea"/>
                <a:cs typeface="+mn-cs"/>
              </a:rPr>
              <a:t>a mayoría de la población vive agrupada en las zonas urbanas, con los problemas propios que esto genera, mientras que una población escasa  y mayormente envejecida vive en aldeas y pueblos dispersos donde es dificultoso proveer de servicios, suministros e infraestructuras, tales como la atención sanitaria, la educación, el  transporte, el ocio, la electricidad o internet.</a:t>
            </a:r>
          </a:p>
        </p:txBody>
      </p:sp>
      <p:sp>
        <p:nvSpPr>
          <p:cNvPr id="8" name="CuadroTexto 7">
            <a:extLst>
              <a:ext uri="{FF2B5EF4-FFF2-40B4-BE49-F238E27FC236}">
                <a16:creationId xmlns:a16="http://schemas.microsoft.com/office/drawing/2014/main" id="{594A2C64-0B88-803B-7E29-2E9E96CB1B9C}"/>
              </a:ext>
            </a:extLst>
          </p:cNvPr>
          <p:cNvSpPr txBox="1"/>
          <p:nvPr/>
        </p:nvSpPr>
        <p:spPr>
          <a:xfrm>
            <a:off x="1192085" y="4758333"/>
            <a:ext cx="8001000" cy="770333"/>
          </a:xfrm>
          <a:prstGeom prst="rect">
            <a:avLst/>
          </a:prstGeom>
        </p:spPr>
        <p:txBody>
          <a:bodyPr vert="horz" lIns="91440" tIns="45720" rIns="91440" bIns="45720" rtlCol="0" anchor="b">
            <a:normAutofit/>
          </a:bodyPr>
          <a:lstStyle/>
          <a:p>
            <a:pPr defTabSz="1371600">
              <a:lnSpc>
                <a:spcPct val="90000"/>
              </a:lnSpc>
              <a:spcBef>
                <a:spcPts val="1500"/>
              </a:spcBef>
            </a:pPr>
            <a:r>
              <a:rPr lang="es-ES" sz="3600" b="1" kern="1200" dirty="0">
                <a:solidFill>
                  <a:schemeClr val="accent6">
                    <a:lumMod val="75000"/>
                  </a:schemeClr>
                </a:solidFill>
                <a:latin typeface="Berlin Sans FB Demi" panose="020E0802020502020306" pitchFamily="34" charset="0"/>
              </a:rPr>
              <a:t>3.3.1. Causas del despoblamiento rural</a:t>
            </a:r>
          </a:p>
        </p:txBody>
      </p:sp>
      <p:sp>
        <p:nvSpPr>
          <p:cNvPr id="6" name="CuadroTexto 5">
            <a:extLst>
              <a:ext uri="{FF2B5EF4-FFF2-40B4-BE49-F238E27FC236}">
                <a16:creationId xmlns:a16="http://schemas.microsoft.com/office/drawing/2014/main" id="{CB145E25-27D7-B3FE-4B62-8418A77704C3}"/>
              </a:ext>
            </a:extLst>
          </p:cNvPr>
          <p:cNvSpPr txBox="1"/>
          <p:nvPr/>
        </p:nvSpPr>
        <p:spPr>
          <a:xfrm>
            <a:off x="1221582" y="5898355"/>
            <a:ext cx="8379618" cy="2123658"/>
          </a:xfrm>
          <a:prstGeom prst="rect">
            <a:avLst/>
          </a:prstGeom>
        </p:spPr>
        <p:txBody>
          <a:bodyPr vert="horz" lIns="91440" tIns="45720" rIns="91440" bIns="45720" rtlCol="0">
            <a:normAutofit fontScale="92500"/>
          </a:bodyPr>
          <a:lstStyle/>
          <a:p>
            <a:pPr defTabSz="1371600">
              <a:lnSpc>
                <a:spcPct val="90000"/>
              </a:lnSpc>
              <a:spcBef>
                <a:spcPts val="1500"/>
              </a:spcBef>
            </a:pPr>
            <a:r>
              <a:rPr lang="es-ES" sz="2200" dirty="0"/>
              <a:t>En España, el 90 % de la población  vive en el 20 % del territorio. Este ocurre también a nivel municipal,  pues 3926 municipios interiores de entre un total de 8131 municipios españoles presentan una densidad poblacional inferior a 12,5 habitantes/km2 , es decir, están por debajo del umbral que la Unión Europea considera como de riesgo demográfico.</a:t>
            </a:r>
          </a:p>
        </p:txBody>
      </p:sp>
      <p:sp>
        <p:nvSpPr>
          <p:cNvPr id="11" name="Cubo 10">
            <a:extLst>
              <a:ext uri="{FF2B5EF4-FFF2-40B4-BE49-F238E27FC236}">
                <a16:creationId xmlns:a16="http://schemas.microsoft.com/office/drawing/2014/main" id="{2F889F92-9814-8278-CBD1-5528647064D6}"/>
              </a:ext>
            </a:extLst>
          </p:cNvPr>
          <p:cNvSpPr/>
          <p:nvPr/>
        </p:nvSpPr>
        <p:spPr>
          <a:xfrm>
            <a:off x="9982200" y="6253162"/>
            <a:ext cx="4062411" cy="3096934"/>
          </a:xfrm>
          <a:prstGeom prst="cub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2C62400E-E238-D1FA-BF4C-D02558E5CB1C}"/>
              </a:ext>
            </a:extLst>
          </p:cNvPr>
          <p:cNvSpPr txBox="1"/>
          <p:nvPr/>
        </p:nvSpPr>
        <p:spPr>
          <a:xfrm>
            <a:off x="10239376" y="2351366"/>
            <a:ext cx="7210424" cy="1200329"/>
          </a:xfrm>
          <a:prstGeom prst="rect">
            <a:avLst/>
          </a:prstGeom>
          <a:noFill/>
        </p:spPr>
        <p:txBody>
          <a:bodyPr wrap="square">
            <a:spAutoFit/>
          </a:bodyPr>
          <a:lstStyle/>
          <a:p>
            <a:r>
              <a:rPr lang="es-ES" sz="3600" dirty="0">
                <a:solidFill>
                  <a:schemeClr val="accent6">
                    <a:lumMod val="75000"/>
                  </a:schemeClr>
                </a:solidFill>
                <a:latin typeface="Berlin Sans FB Demi" panose="020E0802020502020306" pitchFamily="34" charset="0"/>
              </a:rPr>
              <a:t>3.3.2. Consecuencias del despoblamiento rural</a:t>
            </a:r>
          </a:p>
        </p:txBody>
      </p:sp>
      <p:sp>
        <p:nvSpPr>
          <p:cNvPr id="16" name="CuadroTexto 15">
            <a:extLst>
              <a:ext uri="{FF2B5EF4-FFF2-40B4-BE49-F238E27FC236}">
                <a16:creationId xmlns:a16="http://schemas.microsoft.com/office/drawing/2014/main" id="{C4142189-322C-5D7A-69E5-3C110DD0DF33}"/>
              </a:ext>
            </a:extLst>
          </p:cNvPr>
          <p:cNvSpPr txBox="1"/>
          <p:nvPr/>
        </p:nvSpPr>
        <p:spPr>
          <a:xfrm>
            <a:off x="10282700" y="4047768"/>
            <a:ext cx="6714202" cy="2123658"/>
          </a:xfrm>
          <a:prstGeom prst="rect">
            <a:avLst/>
          </a:prstGeom>
          <a:noFill/>
        </p:spPr>
        <p:txBody>
          <a:bodyPr wrap="square">
            <a:spAutoFit/>
          </a:bodyPr>
          <a:lstStyle/>
          <a:p>
            <a:r>
              <a:rPr lang="es-ES" sz="2200" dirty="0"/>
              <a:t>Los territorios rurales abandonados dejan de producir alimentos (ODS 2), no generan trabajo,  ni producen crecimiento económico (ODS 8), acrecientan la insostenibilidad de las ciudades (ODS 11) y, al contrario de lo que pudiera pensarse, no benefician necesariamente la vida silvestre  (ODS 15).</a:t>
            </a:r>
          </a:p>
        </p:txBody>
      </p:sp>
    </p:spTree>
    <p:extLst>
      <p:ext uri="{BB962C8B-B14F-4D97-AF65-F5344CB8AC3E}">
        <p14:creationId xmlns:p14="http://schemas.microsoft.com/office/powerpoint/2010/main" val="24657115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DFAE99-F1C7-BC7A-D862-BA85FFDF1475}"/>
              </a:ext>
            </a:extLst>
          </p:cNvPr>
          <p:cNvSpPr>
            <a:spLocks noGrp="1"/>
          </p:cNvSpPr>
          <p:nvPr>
            <p:ph type="title"/>
          </p:nvPr>
        </p:nvSpPr>
        <p:spPr>
          <a:xfrm>
            <a:off x="1509712" y="521262"/>
            <a:ext cx="11368088" cy="1988345"/>
          </a:xfrm>
        </p:spPr>
        <p:txBody>
          <a:bodyPr>
            <a:normAutofit fontScale="90000"/>
          </a:bodyPr>
          <a:lstStyle/>
          <a:p>
            <a:pPr algn="r"/>
            <a:r>
              <a:rPr lang="es-ES" dirty="0">
                <a:solidFill>
                  <a:schemeClr val="accent6">
                    <a:lumMod val="75000"/>
                  </a:schemeClr>
                </a:solidFill>
                <a:latin typeface="Berlin Sans FB Demi" panose="020E0802020502020306" pitchFamily="34" charset="0"/>
              </a:rPr>
              <a:t>3.4. Reto 3: garantizar la salud y el bienestar a todas las edades</a:t>
            </a:r>
          </a:p>
        </p:txBody>
      </p:sp>
      <p:sp>
        <p:nvSpPr>
          <p:cNvPr id="8" name="CuadroTexto 7">
            <a:extLst>
              <a:ext uri="{FF2B5EF4-FFF2-40B4-BE49-F238E27FC236}">
                <a16:creationId xmlns:a16="http://schemas.microsoft.com/office/drawing/2014/main" id="{3CDC7275-B5B8-70D7-2E9D-78D54F4456A5}"/>
              </a:ext>
            </a:extLst>
          </p:cNvPr>
          <p:cNvSpPr txBox="1"/>
          <p:nvPr/>
        </p:nvSpPr>
        <p:spPr>
          <a:xfrm>
            <a:off x="1509712" y="2699606"/>
            <a:ext cx="9144000" cy="1446550"/>
          </a:xfrm>
          <a:prstGeom prst="rect">
            <a:avLst/>
          </a:prstGeom>
          <a:noFill/>
        </p:spPr>
        <p:txBody>
          <a:bodyPr wrap="square">
            <a:spAutoFit/>
          </a:bodyPr>
          <a:lstStyle/>
          <a:p>
            <a:r>
              <a:rPr lang="es-ES" sz="2200" dirty="0"/>
              <a:t>Estar sano es el punto de partida para cualquier cosa, y esto se comprueba en las múltiples interrelaciones entre el ODS 3-Salud y bienestar y, prácticamente, todos los demás objetivos de desarrollo sostenible.</a:t>
            </a:r>
          </a:p>
        </p:txBody>
      </p:sp>
      <p:sp>
        <p:nvSpPr>
          <p:cNvPr id="10" name="CuadroTexto 9">
            <a:extLst>
              <a:ext uri="{FF2B5EF4-FFF2-40B4-BE49-F238E27FC236}">
                <a16:creationId xmlns:a16="http://schemas.microsoft.com/office/drawing/2014/main" id="{C4E56136-4305-EAD2-C31C-740AA949ECA0}"/>
              </a:ext>
            </a:extLst>
          </p:cNvPr>
          <p:cNvSpPr txBox="1"/>
          <p:nvPr/>
        </p:nvSpPr>
        <p:spPr>
          <a:xfrm>
            <a:off x="9906000" y="5862663"/>
            <a:ext cx="9144000" cy="584775"/>
          </a:xfrm>
          <a:prstGeom prst="rect">
            <a:avLst/>
          </a:prstGeom>
          <a:noFill/>
        </p:spPr>
        <p:txBody>
          <a:bodyPr wrap="square">
            <a:spAutoFit/>
          </a:bodyPr>
          <a:lstStyle/>
          <a:p>
            <a:r>
              <a:rPr lang="es-ES" sz="3200" dirty="0">
                <a:solidFill>
                  <a:schemeClr val="accent6">
                    <a:lumMod val="75000"/>
                  </a:schemeClr>
                </a:solidFill>
                <a:latin typeface="Berlin Sans FB Demi" panose="020E0802020502020306" pitchFamily="34" charset="0"/>
              </a:rPr>
              <a:t>3.4.1. La salud y el estado del bienestar</a:t>
            </a:r>
          </a:p>
        </p:txBody>
      </p:sp>
      <p:sp>
        <p:nvSpPr>
          <p:cNvPr id="12" name="CuadroTexto 11">
            <a:extLst>
              <a:ext uri="{FF2B5EF4-FFF2-40B4-BE49-F238E27FC236}">
                <a16:creationId xmlns:a16="http://schemas.microsoft.com/office/drawing/2014/main" id="{FB4DB9D9-D1F0-4715-3649-8283F53630F0}"/>
              </a:ext>
            </a:extLst>
          </p:cNvPr>
          <p:cNvSpPr txBox="1"/>
          <p:nvPr/>
        </p:nvSpPr>
        <p:spPr>
          <a:xfrm>
            <a:off x="9906000" y="6675537"/>
            <a:ext cx="7643813" cy="2123658"/>
          </a:xfrm>
          <a:prstGeom prst="rect">
            <a:avLst/>
          </a:prstGeom>
          <a:noFill/>
        </p:spPr>
        <p:txBody>
          <a:bodyPr wrap="square">
            <a:spAutoFit/>
          </a:bodyPr>
          <a:lstStyle/>
          <a:p>
            <a:r>
              <a:rPr lang="es-ES" sz="2200" dirty="0"/>
              <a:t>El estado del bienestar se construye con las acciones realizadas por el estado para redistribuir las rentas y asegurar la igualdad de oportunidades entre toda la población. Obviamente, la consecución de estos objetivos necesita la intervención estatal, que es quien se ocupa de recaudar impuestos y de financiar con ellos todas las prestaciones.</a:t>
            </a:r>
          </a:p>
        </p:txBody>
      </p:sp>
      <p:graphicFrame>
        <p:nvGraphicFramePr>
          <p:cNvPr id="19" name="Tabla 18">
            <a:extLst>
              <a:ext uri="{FF2B5EF4-FFF2-40B4-BE49-F238E27FC236}">
                <a16:creationId xmlns:a16="http://schemas.microsoft.com/office/drawing/2014/main" id="{CA557721-40E3-02A6-664A-4B06F974BCE9}"/>
              </a:ext>
            </a:extLst>
          </p:cNvPr>
          <p:cNvGraphicFramePr>
            <a:graphicFrameLocks noGrp="1"/>
          </p:cNvGraphicFramePr>
          <p:nvPr>
            <p:extLst>
              <p:ext uri="{D42A27DB-BD31-4B8C-83A1-F6EECF244321}">
                <p14:modId xmlns:p14="http://schemas.microsoft.com/office/powerpoint/2010/main" val="3526212340"/>
              </p:ext>
            </p:extLst>
          </p:nvPr>
        </p:nvGraphicFramePr>
        <p:xfrm>
          <a:off x="1509712" y="4983480"/>
          <a:ext cx="8167688" cy="5669280"/>
        </p:xfrm>
        <a:graphic>
          <a:graphicData uri="http://schemas.openxmlformats.org/drawingml/2006/table">
            <a:tbl>
              <a:tblPr firstRow="1" bandRow="1">
                <a:tableStyleId>{3B4B98B0-60AC-42C2-AFA5-B58CD77FA1E5}</a:tableStyleId>
              </a:tblPr>
              <a:tblGrid>
                <a:gridCol w="1869711">
                  <a:extLst>
                    <a:ext uri="{9D8B030D-6E8A-4147-A177-3AD203B41FA5}">
                      <a16:colId xmlns:a16="http://schemas.microsoft.com/office/drawing/2014/main" val="3812890341"/>
                    </a:ext>
                  </a:extLst>
                </a:gridCol>
                <a:gridCol w="6297977">
                  <a:extLst>
                    <a:ext uri="{9D8B030D-6E8A-4147-A177-3AD203B41FA5}">
                      <a16:colId xmlns:a16="http://schemas.microsoft.com/office/drawing/2014/main" val="1639092387"/>
                    </a:ext>
                  </a:extLst>
                </a:gridCol>
              </a:tblGrid>
              <a:tr h="2369820">
                <a:tc>
                  <a:txBody>
                    <a:bodyPr/>
                    <a:lstStyle/>
                    <a:p>
                      <a:r>
                        <a:rPr lang="es-ES" sz="2400" dirty="0"/>
                        <a:t>Meta 3.7</a:t>
                      </a:r>
                      <a:r>
                        <a:rPr lang="es-ES" dirty="0"/>
                        <a:t>. </a:t>
                      </a:r>
                    </a:p>
                  </a:txBody>
                  <a:tcPr/>
                </a:tc>
                <a:tc>
                  <a:txBody>
                    <a:bodyPr/>
                    <a:lstStyle/>
                    <a:p>
                      <a:r>
                        <a:rPr lang="es-ES" sz="2400" b="0" dirty="0"/>
                        <a:t>Para el 2030, garantizar  el acceso universal a los servicios de salud sexual y reproductiva, incluidos los de planificación familiar, información y educación,  y la integración de la salud reproductiva en las estrategias y los programas nacionales.</a:t>
                      </a:r>
                    </a:p>
                  </a:txBody>
                  <a:tcPr/>
                </a:tc>
                <a:extLst>
                  <a:ext uri="{0D108BD9-81ED-4DB2-BD59-A6C34878D82A}">
                    <a16:rowId xmlns:a16="http://schemas.microsoft.com/office/drawing/2014/main" val="1023005454"/>
                  </a:ext>
                </a:extLst>
              </a:tr>
              <a:tr h="1740907">
                <a:tc>
                  <a:txBody>
                    <a:bodyPr/>
                    <a:lstStyle/>
                    <a:p>
                      <a:r>
                        <a:rPr lang="es-ES" sz="2400" dirty="0"/>
                        <a:t>Indicador</a:t>
                      </a:r>
                    </a:p>
                    <a:p>
                      <a:r>
                        <a:rPr lang="es-ES" sz="2400" dirty="0"/>
                        <a:t>3.7.1.</a:t>
                      </a:r>
                    </a:p>
                  </a:txBody>
                  <a:tcPr/>
                </a:tc>
                <a:tc>
                  <a:txBody>
                    <a:bodyPr/>
                    <a:lstStyle/>
                    <a:p>
                      <a:r>
                        <a:rPr lang="es-ES" sz="2400" dirty="0"/>
                        <a:t>Proporción de mujeres en edad de procrear (entre 15 y 49 años) que cubren sus necesidades de planificación familiar con métodos </a:t>
                      </a:r>
                    </a:p>
                    <a:p>
                      <a:r>
                        <a:rPr lang="es-ES" sz="2400" dirty="0"/>
                        <a:t>modernos.</a:t>
                      </a:r>
                    </a:p>
                  </a:txBody>
                  <a:tcPr/>
                </a:tc>
                <a:extLst>
                  <a:ext uri="{0D108BD9-81ED-4DB2-BD59-A6C34878D82A}">
                    <a16:rowId xmlns:a16="http://schemas.microsoft.com/office/drawing/2014/main" val="169843187"/>
                  </a:ext>
                </a:extLst>
              </a:tr>
            </a:tbl>
          </a:graphicData>
        </a:graphic>
      </p:graphicFrame>
      <p:pic>
        <p:nvPicPr>
          <p:cNvPr id="1026" name="Picture 2" descr="Cerebro, Corazón, Mente, Cuerpo">
            <a:extLst>
              <a:ext uri="{FF2B5EF4-FFF2-40B4-BE49-F238E27FC236}">
                <a16:creationId xmlns:a16="http://schemas.microsoft.com/office/drawing/2014/main" id="{768C15A5-E290-6142-4734-CD1D86ECB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7600" y="2697680"/>
            <a:ext cx="6007894" cy="3003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5173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0A5752-2C02-07D8-6B0D-EAC7A20E9072}"/>
              </a:ext>
            </a:extLst>
          </p:cNvPr>
          <p:cNvSpPr>
            <a:spLocks noGrp="1"/>
          </p:cNvSpPr>
          <p:nvPr>
            <p:ph type="title"/>
          </p:nvPr>
        </p:nvSpPr>
        <p:spPr>
          <a:xfrm>
            <a:off x="1142704" y="525294"/>
            <a:ext cx="10820696" cy="2436780"/>
          </a:xfrm>
        </p:spPr>
        <p:txBody>
          <a:bodyPr vert="horz" lIns="91440" tIns="45720" rIns="91440" bIns="45720" rtlCol="0" anchor="ctr">
            <a:normAutofit/>
          </a:bodyPr>
          <a:lstStyle/>
          <a:p>
            <a:pPr algn="r" defTabSz="914400"/>
            <a:r>
              <a:rPr lang="en-US" sz="6000" dirty="0">
                <a:solidFill>
                  <a:schemeClr val="accent6">
                    <a:lumMod val="75000"/>
                  </a:schemeClr>
                </a:solidFill>
                <a:latin typeface="Berlin Sans FB Demi" panose="020E0802020502020306" pitchFamily="34" charset="0"/>
              </a:rPr>
              <a:t>3.5. </a:t>
            </a:r>
            <a:r>
              <a:rPr lang="en-US" sz="6000" dirty="0" err="1">
                <a:solidFill>
                  <a:schemeClr val="accent6">
                    <a:lumMod val="75000"/>
                  </a:schemeClr>
                </a:solidFill>
                <a:latin typeface="Berlin Sans FB Demi" panose="020E0802020502020306" pitchFamily="34" charset="0"/>
              </a:rPr>
              <a:t>Reto</a:t>
            </a:r>
            <a:r>
              <a:rPr lang="en-US" sz="6000" dirty="0">
                <a:solidFill>
                  <a:schemeClr val="accent6">
                    <a:lumMod val="75000"/>
                  </a:schemeClr>
                </a:solidFill>
                <a:latin typeface="Berlin Sans FB Demi" panose="020E0802020502020306" pitchFamily="34" charset="0"/>
              </a:rPr>
              <a:t> 4: </a:t>
            </a:r>
            <a:r>
              <a:rPr lang="en-US" sz="6000" dirty="0" err="1">
                <a:solidFill>
                  <a:schemeClr val="accent6">
                    <a:lumMod val="75000"/>
                  </a:schemeClr>
                </a:solidFill>
                <a:latin typeface="Berlin Sans FB Demi" panose="020E0802020502020306" pitchFamily="34" charset="0"/>
              </a:rPr>
              <a:t>lograr</a:t>
            </a:r>
            <a:r>
              <a:rPr lang="en-US" sz="6000" dirty="0">
                <a:solidFill>
                  <a:schemeClr val="accent6">
                    <a:lumMod val="75000"/>
                  </a:schemeClr>
                </a:solidFill>
                <a:latin typeface="Berlin Sans FB Demi" panose="020E0802020502020306" pitchFamily="34" charset="0"/>
              </a:rPr>
              <a:t> la </a:t>
            </a:r>
            <a:r>
              <a:rPr lang="en-US" sz="6000" dirty="0" err="1">
                <a:solidFill>
                  <a:schemeClr val="accent6">
                    <a:lumMod val="75000"/>
                  </a:schemeClr>
                </a:solidFill>
                <a:latin typeface="Berlin Sans FB Demi" panose="020E0802020502020306" pitchFamily="34" charset="0"/>
              </a:rPr>
              <a:t>seguridad</a:t>
            </a:r>
            <a:r>
              <a:rPr lang="en-US" sz="6000" dirty="0">
                <a:solidFill>
                  <a:schemeClr val="accent6">
                    <a:lumMod val="75000"/>
                  </a:schemeClr>
                </a:solidFill>
                <a:latin typeface="Berlin Sans FB Demi" panose="020E0802020502020306" pitchFamily="34" charset="0"/>
              </a:rPr>
              <a:t> alimentaria</a:t>
            </a:r>
          </a:p>
        </p:txBody>
      </p:sp>
      <p:sp>
        <p:nvSpPr>
          <p:cNvPr id="8" name="CuadroTexto 7">
            <a:extLst>
              <a:ext uri="{FF2B5EF4-FFF2-40B4-BE49-F238E27FC236}">
                <a16:creationId xmlns:a16="http://schemas.microsoft.com/office/drawing/2014/main" id="{0B0B1CD9-777C-7E38-1361-9187A2CD0FCC}"/>
              </a:ext>
            </a:extLst>
          </p:cNvPr>
          <p:cNvSpPr txBox="1"/>
          <p:nvPr/>
        </p:nvSpPr>
        <p:spPr>
          <a:xfrm>
            <a:off x="986880" y="2605060"/>
            <a:ext cx="10592097" cy="2815574"/>
          </a:xfrm>
          <a:prstGeom prst="rect">
            <a:avLst/>
          </a:prstGeom>
        </p:spPr>
        <p:txBody>
          <a:bodyPr vert="horz" lIns="91440" tIns="45720" rIns="91440" bIns="45720" rtlCol="0" anchor="ctr">
            <a:normAutofit/>
          </a:bodyPr>
          <a:lstStyle/>
          <a:p>
            <a:pPr>
              <a:lnSpc>
                <a:spcPct val="90000"/>
              </a:lnSpc>
              <a:spcAft>
                <a:spcPts val="600"/>
              </a:spcAft>
            </a:pPr>
            <a:r>
              <a:rPr lang="es-ES" sz="2400" dirty="0"/>
              <a:t>La seguridad alimentaria existe cuando todas las personas tienen, en todo momento, acceso físico, social y económico a alimentos suficientes, inocuos y nutritivos que permitan llevar una vida activa y sana. El reto de lograr la seguridad alimentaria consiste principalmente en erradicar el hambre y, a continuación, en conseguir que la población se alimente de una forma saludable.</a:t>
            </a:r>
          </a:p>
        </p:txBody>
      </p:sp>
      <p:pic>
        <p:nvPicPr>
          <p:cNvPr id="16" name="Picture 15">
            <a:extLst>
              <a:ext uri="{FF2B5EF4-FFF2-40B4-BE49-F238E27FC236}">
                <a16:creationId xmlns:a16="http://schemas.microsoft.com/office/drawing/2014/main" id="{E2B9159A-438D-50AA-C5D6-C2B1AAE42D09}"/>
              </a:ext>
            </a:extLst>
          </p:cNvPr>
          <p:cNvPicPr>
            <a:picLocks noChangeAspect="1"/>
          </p:cNvPicPr>
          <p:nvPr/>
        </p:nvPicPr>
        <p:blipFill>
          <a:blip r:embed="rId2"/>
          <a:srcRect l="14835" r="35109"/>
          <a:stretch/>
        </p:blipFill>
        <p:spPr>
          <a:xfrm>
            <a:off x="12783670" y="0"/>
            <a:ext cx="5494495" cy="6174395"/>
          </a:xfrm>
          <a:prstGeom prst="rect">
            <a:avLst/>
          </a:prstGeom>
        </p:spPr>
      </p:pic>
      <p:sp>
        <p:nvSpPr>
          <p:cNvPr id="10" name="CuadroTexto 9">
            <a:extLst>
              <a:ext uri="{FF2B5EF4-FFF2-40B4-BE49-F238E27FC236}">
                <a16:creationId xmlns:a16="http://schemas.microsoft.com/office/drawing/2014/main" id="{1D213E57-83D6-69CD-4410-09CE409C4A1D}"/>
              </a:ext>
            </a:extLst>
          </p:cNvPr>
          <p:cNvSpPr txBox="1"/>
          <p:nvPr/>
        </p:nvSpPr>
        <p:spPr>
          <a:xfrm>
            <a:off x="986880" y="5339220"/>
            <a:ext cx="11132344" cy="523220"/>
          </a:xfrm>
          <a:prstGeom prst="rect">
            <a:avLst/>
          </a:prstGeom>
          <a:noFill/>
        </p:spPr>
        <p:txBody>
          <a:bodyPr wrap="square">
            <a:spAutoFit/>
          </a:bodyPr>
          <a:lstStyle/>
          <a:p>
            <a:pPr>
              <a:spcAft>
                <a:spcPts val="600"/>
              </a:spcAft>
            </a:pPr>
            <a:r>
              <a:rPr lang="es-ES" sz="2800" dirty="0">
                <a:solidFill>
                  <a:schemeClr val="accent6">
                    <a:lumMod val="75000"/>
                  </a:schemeClr>
                </a:solidFill>
                <a:latin typeface="Berlin Sans FB Demi" panose="020E0802020502020306" pitchFamily="34" charset="0"/>
              </a:rPr>
              <a:t>3.5.1. La distribución de los alimentos y los intereses comerciales</a:t>
            </a:r>
          </a:p>
        </p:txBody>
      </p:sp>
      <p:sp>
        <p:nvSpPr>
          <p:cNvPr id="12" name="CuadroTexto 11">
            <a:extLst>
              <a:ext uri="{FF2B5EF4-FFF2-40B4-BE49-F238E27FC236}">
                <a16:creationId xmlns:a16="http://schemas.microsoft.com/office/drawing/2014/main" id="{0098BB7C-623A-4E81-0750-A30FA43D0C20}"/>
              </a:ext>
            </a:extLst>
          </p:cNvPr>
          <p:cNvSpPr txBox="1"/>
          <p:nvPr/>
        </p:nvSpPr>
        <p:spPr>
          <a:xfrm>
            <a:off x="914399" y="6274153"/>
            <a:ext cx="6553201" cy="3247043"/>
          </a:xfrm>
          <a:prstGeom prst="rect">
            <a:avLst/>
          </a:prstGeom>
          <a:noFill/>
        </p:spPr>
        <p:txBody>
          <a:bodyPr wrap="square">
            <a:spAutoFit/>
          </a:bodyPr>
          <a:lstStyle/>
          <a:p>
            <a:pPr>
              <a:spcAft>
                <a:spcPts val="600"/>
              </a:spcAft>
            </a:pPr>
            <a:r>
              <a:rPr lang="es-ES" sz="2000" dirty="0"/>
              <a:t>El Ministerio de Agricultura publicó, según el informe de 2021,  que las personas residentes en  España tiraron a la basura 1246 millones de kg/l de alimentos y bebidas. Esta cantidad representa unas 8 veces la cantidad total de comida distribuida por los bancos de alimentos durante el mismo periodo.</a:t>
            </a:r>
          </a:p>
          <a:p>
            <a:pPr>
              <a:spcAft>
                <a:spcPts val="600"/>
              </a:spcAft>
            </a:pPr>
            <a:r>
              <a:rPr lang="es-ES" sz="2000" dirty="0"/>
              <a:t>Los bancos de alimentos son organizaciones no gubernamentales que luchan contra la pobreza y el  hambre repartiendo alimentos entre la población necesitada.</a:t>
            </a:r>
          </a:p>
        </p:txBody>
      </p:sp>
      <p:sp>
        <p:nvSpPr>
          <p:cNvPr id="14" name="CuadroTexto 13">
            <a:extLst>
              <a:ext uri="{FF2B5EF4-FFF2-40B4-BE49-F238E27FC236}">
                <a16:creationId xmlns:a16="http://schemas.microsoft.com/office/drawing/2014/main" id="{19B1BD2E-F7F7-85C5-4139-856F1C568124}"/>
              </a:ext>
            </a:extLst>
          </p:cNvPr>
          <p:cNvSpPr txBox="1"/>
          <p:nvPr/>
        </p:nvSpPr>
        <p:spPr>
          <a:xfrm>
            <a:off x="7924798" y="7105224"/>
            <a:ext cx="9906000" cy="1938992"/>
          </a:xfrm>
          <a:prstGeom prst="rect">
            <a:avLst/>
          </a:prstGeom>
          <a:noFill/>
        </p:spPr>
        <p:txBody>
          <a:bodyPr wrap="square">
            <a:spAutoFit/>
          </a:bodyPr>
          <a:lstStyle/>
          <a:p>
            <a:pPr>
              <a:spcAft>
                <a:spcPts val="600"/>
              </a:spcAft>
            </a:pPr>
            <a:r>
              <a:rPr lang="es-ES" sz="2000" dirty="0"/>
              <a:t>Sobre los intereses comerciales, se puede comentar el caso de la quinoa. Se trata de una planta cultivada milenaria cuya semilla constituye el alimento principal de la mayor parte de los campesinos bolivianos y peruanos. Originalmente, el 80 % de la producción de este grano estaba en manos campesinas, pero, actualmente, se encuentra bajo el control de grandes empresas agropecuarias, toda vez que el consumo de quinoa se ha puesto de moda en los países occidentales.</a:t>
            </a:r>
          </a:p>
        </p:txBody>
      </p:sp>
    </p:spTree>
    <p:extLst>
      <p:ext uri="{BB962C8B-B14F-4D97-AF65-F5344CB8AC3E}">
        <p14:creationId xmlns:p14="http://schemas.microsoft.com/office/powerpoint/2010/main" val="41061147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338F2C11-E6A2-EAA5-9175-5BAE027DD60A}"/>
              </a:ext>
            </a:extLst>
          </p:cNvPr>
          <p:cNvSpPr>
            <a:spLocks noGrp="1"/>
          </p:cNvSpPr>
          <p:nvPr>
            <p:ph type="title"/>
          </p:nvPr>
        </p:nvSpPr>
        <p:spPr>
          <a:xfrm>
            <a:off x="1600200" y="525823"/>
            <a:ext cx="11501438" cy="1988345"/>
          </a:xfrm>
        </p:spPr>
        <p:txBody>
          <a:bodyPr/>
          <a:lstStyle/>
          <a:p>
            <a:r>
              <a:rPr lang="es-ES" dirty="0">
                <a:solidFill>
                  <a:schemeClr val="accent6">
                    <a:lumMod val="75000"/>
                  </a:schemeClr>
                </a:solidFill>
                <a:latin typeface="Berlin Sans FB Demi" panose="020E0802020502020306" pitchFamily="34" charset="0"/>
              </a:rPr>
              <a:t>3.5.2. Opciones para lograr la seguridad alimentaria</a:t>
            </a:r>
          </a:p>
        </p:txBody>
      </p:sp>
      <p:sp>
        <p:nvSpPr>
          <p:cNvPr id="10" name="CuadroTexto 9">
            <a:extLst>
              <a:ext uri="{FF2B5EF4-FFF2-40B4-BE49-F238E27FC236}">
                <a16:creationId xmlns:a16="http://schemas.microsoft.com/office/drawing/2014/main" id="{D8AB462A-98F4-A792-1509-139FAC6C82D5}"/>
              </a:ext>
            </a:extLst>
          </p:cNvPr>
          <p:cNvSpPr txBox="1"/>
          <p:nvPr/>
        </p:nvSpPr>
        <p:spPr>
          <a:xfrm>
            <a:off x="1524000" y="2785489"/>
            <a:ext cx="11501438" cy="1631216"/>
          </a:xfrm>
          <a:prstGeom prst="rect">
            <a:avLst/>
          </a:prstGeom>
          <a:noFill/>
        </p:spPr>
        <p:txBody>
          <a:bodyPr wrap="square">
            <a:spAutoFit/>
          </a:bodyPr>
          <a:lstStyle/>
          <a:p>
            <a:r>
              <a:rPr lang="es-ES" sz="2000" dirty="0"/>
              <a:t>La población humana crece geométricamente, mientras que la producción de alimentos lo hace aritméticamente.</a:t>
            </a:r>
          </a:p>
          <a:p>
            <a:r>
              <a:rPr lang="es-ES" sz="2000" dirty="0"/>
              <a:t>Una primera solución a este problema sería incrementar la superficie dedicada a los cultivos, este crecimiento se hace a costa de bosques y otros espacios naturales y no es sostenible, debido a su impacto negativo sobre  varios retos ambientales.</a:t>
            </a:r>
          </a:p>
        </p:txBody>
      </p:sp>
      <p:sp>
        <p:nvSpPr>
          <p:cNvPr id="14" name="CuadroTexto 13">
            <a:extLst>
              <a:ext uri="{FF2B5EF4-FFF2-40B4-BE49-F238E27FC236}">
                <a16:creationId xmlns:a16="http://schemas.microsoft.com/office/drawing/2014/main" id="{D2A1B50D-4A32-0AFF-765F-7910DEB34DA6}"/>
              </a:ext>
            </a:extLst>
          </p:cNvPr>
          <p:cNvSpPr txBox="1"/>
          <p:nvPr/>
        </p:nvSpPr>
        <p:spPr>
          <a:xfrm>
            <a:off x="1528762" y="4607590"/>
            <a:ext cx="9144000" cy="400110"/>
          </a:xfrm>
          <a:prstGeom prst="rect">
            <a:avLst/>
          </a:prstGeom>
          <a:noFill/>
        </p:spPr>
        <p:txBody>
          <a:bodyPr wrap="square">
            <a:spAutoFit/>
          </a:bodyPr>
          <a:lstStyle/>
          <a:p>
            <a:r>
              <a:rPr lang="es-ES" sz="2000" dirty="0"/>
              <a:t>Otras opciones para evitar la roturación de los bosques son</a:t>
            </a:r>
            <a:r>
              <a:rPr lang="es-ES" dirty="0"/>
              <a:t>:</a:t>
            </a:r>
          </a:p>
        </p:txBody>
      </p:sp>
      <p:sp>
        <p:nvSpPr>
          <p:cNvPr id="16" name="CuadroTexto 15">
            <a:extLst>
              <a:ext uri="{FF2B5EF4-FFF2-40B4-BE49-F238E27FC236}">
                <a16:creationId xmlns:a16="http://schemas.microsoft.com/office/drawing/2014/main" id="{8BDF60CF-6052-16EE-C121-C6904693A743}"/>
              </a:ext>
            </a:extLst>
          </p:cNvPr>
          <p:cNvSpPr txBox="1"/>
          <p:nvPr/>
        </p:nvSpPr>
        <p:spPr>
          <a:xfrm>
            <a:off x="1600200" y="5371237"/>
            <a:ext cx="9144000" cy="400110"/>
          </a:xfrm>
          <a:prstGeom prst="rect">
            <a:avLst/>
          </a:prstGeom>
          <a:noFill/>
        </p:spPr>
        <p:txBody>
          <a:bodyPr wrap="square">
            <a:spAutoFit/>
          </a:bodyPr>
          <a:lstStyle/>
          <a:p>
            <a:pPr marL="285750" indent="-285750">
              <a:buFont typeface="Arial" panose="020B0604020202020204" pitchFamily="34" charset="0"/>
              <a:buChar char="•"/>
            </a:pPr>
            <a:r>
              <a:rPr lang="es-ES" sz="2000" b="1" dirty="0"/>
              <a:t>Evitar la degradación del suelo.</a:t>
            </a:r>
          </a:p>
        </p:txBody>
      </p:sp>
      <p:sp>
        <p:nvSpPr>
          <p:cNvPr id="18" name="CuadroTexto 17">
            <a:extLst>
              <a:ext uri="{FF2B5EF4-FFF2-40B4-BE49-F238E27FC236}">
                <a16:creationId xmlns:a16="http://schemas.microsoft.com/office/drawing/2014/main" id="{21089B97-1141-6781-9718-0417EA8DFEC3}"/>
              </a:ext>
            </a:extLst>
          </p:cNvPr>
          <p:cNvSpPr txBox="1"/>
          <p:nvPr/>
        </p:nvSpPr>
        <p:spPr>
          <a:xfrm>
            <a:off x="1600200" y="5782568"/>
            <a:ext cx="9144000" cy="400110"/>
          </a:xfrm>
          <a:prstGeom prst="rect">
            <a:avLst/>
          </a:prstGeom>
          <a:noFill/>
        </p:spPr>
        <p:txBody>
          <a:bodyPr wrap="square">
            <a:spAutoFit/>
          </a:bodyPr>
          <a:lstStyle/>
          <a:p>
            <a:pPr marL="285750" indent="-285750">
              <a:buFont typeface="Arial" panose="020B0604020202020204" pitchFamily="34" charset="0"/>
              <a:buChar char="•"/>
            </a:pPr>
            <a:r>
              <a:rPr lang="es-ES" sz="2000" b="1" dirty="0"/>
              <a:t>Desarrollar tecnologías nuevas</a:t>
            </a:r>
            <a:r>
              <a:rPr lang="es-ES" b="1" dirty="0"/>
              <a:t>.</a:t>
            </a:r>
          </a:p>
        </p:txBody>
      </p:sp>
      <p:sp>
        <p:nvSpPr>
          <p:cNvPr id="20" name="CuadroTexto 19">
            <a:extLst>
              <a:ext uri="{FF2B5EF4-FFF2-40B4-BE49-F238E27FC236}">
                <a16:creationId xmlns:a16="http://schemas.microsoft.com/office/drawing/2014/main" id="{A8018715-8D1E-4442-DFAC-3C505A7907C8}"/>
              </a:ext>
            </a:extLst>
          </p:cNvPr>
          <p:cNvSpPr txBox="1"/>
          <p:nvPr/>
        </p:nvSpPr>
        <p:spPr>
          <a:xfrm>
            <a:off x="1600200" y="6193899"/>
            <a:ext cx="9144000" cy="400110"/>
          </a:xfrm>
          <a:prstGeom prst="rect">
            <a:avLst/>
          </a:prstGeom>
          <a:noFill/>
        </p:spPr>
        <p:txBody>
          <a:bodyPr wrap="square">
            <a:spAutoFit/>
          </a:bodyPr>
          <a:lstStyle/>
          <a:p>
            <a:pPr marL="285750" indent="-285750">
              <a:buFont typeface="Arial" panose="020B0604020202020204" pitchFamily="34" charset="0"/>
              <a:buChar char="•"/>
            </a:pPr>
            <a:r>
              <a:rPr lang="es-ES" sz="2000" b="1" dirty="0"/>
              <a:t>Consumir menos carne. </a:t>
            </a:r>
          </a:p>
        </p:txBody>
      </p:sp>
      <p:graphicFrame>
        <p:nvGraphicFramePr>
          <p:cNvPr id="21" name="Tabla 20">
            <a:extLst>
              <a:ext uri="{FF2B5EF4-FFF2-40B4-BE49-F238E27FC236}">
                <a16:creationId xmlns:a16="http://schemas.microsoft.com/office/drawing/2014/main" id="{5FB31393-D9BB-C904-8378-65C7E6D3C3F0}"/>
              </a:ext>
            </a:extLst>
          </p:cNvPr>
          <p:cNvGraphicFramePr>
            <a:graphicFrameLocks noGrp="1"/>
          </p:cNvGraphicFramePr>
          <p:nvPr>
            <p:extLst>
              <p:ext uri="{D42A27DB-BD31-4B8C-83A1-F6EECF244321}">
                <p14:modId xmlns:p14="http://schemas.microsoft.com/office/powerpoint/2010/main" val="3639503901"/>
              </p:ext>
            </p:extLst>
          </p:nvPr>
        </p:nvGraphicFramePr>
        <p:xfrm>
          <a:off x="9525000" y="4494907"/>
          <a:ext cx="7927182" cy="4998720"/>
        </p:xfrm>
        <a:graphic>
          <a:graphicData uri="http://schemas.openxmlformats.org/drawingml/2006/table">
            <a:tbl>
              <a:tblPr firstRow="1" bandRow="1">
                <a:tableStyleId>{3B4B98B0-60AC-42C2-AFA5-B58CD77FA1E5}</a:tableStyleId>
              </a:tblPr>
              <a:tblGrid>
                <a:gridCol w="1814656">
                  <a:extLst>
                    <a:ext uri="{9D8B030D-6E8A-4147-A177-3AD203B41FA5}">
                      <a16:colId xmlns:a16="http://schemas.microsoft.com/office/drawing/2014/main" val="3812890341"/>
                    </a:ext>
                  </a:extLst>
                </a:gridCol>
                <a:gridCol w="6112526">
                  <a:extLst>
                    <a:ext uri="{9D8B030D-6E8A-4147-A177-3AD203B41FA5}">
                      <a16:colId xmlns:a16="http://schemas.microsoft.com/office/drawing/2014/main" val="1639092387"/>
                    </a:ext>
                  </a:extLst>
                </a:gridCol>
              </a:tblGrid>
              <a:tr h="2099328">
                <a:tc>
                  <a:txBody>
                    <a:bodyPr/>
                    <a:lstStyle/>
                    <a:p>
                      <a:r>
                        <a:rPr lang="es-ES" sz="2400" dirty="0"/>
                        <a:t>Meta 2.3.</a:t>
                      </a:r>
                      <a:r>
                        <a:rPr lang="es-ES" dirty="0"/>
                        <a:t> </a:t>
                      </a:r>
                    </a:p>
                  </a:txBody>
                  <a:tcPr/>
                </a:tc>
                <a:tc>
                  <a:txBody>
                    <a:bodyPr/>
                    <a:lstStyle/>
                    <a:p>
                      <a:r>
                        <a:rPr lang="es-ES" sz="2200" b="0" dirty="0"/>
                        <a:t>Para el 2030, duplicar la productividad agrícola y los ingresos de los productores de alimentos en pequeña escala, en particular las mujeres, los pueblos indígenas, los agricultores  familiares, los pastores y los pescadores, entre otras cosas, mediante un acceso seguro y  equitativo a las tierras, a otros recursos de producción e insumos, conocimientos, servicios  financieros, mercados y oportunidades para la generación de valor añadido y empleos no agrícolas.</a:t>
                      </a:r>
                    </a:p>
                  </a:txBody>
                  <a:tcPr/>
                </a:tc>
                <a:extLst>
                  <a:ext uri="{0D108BD9-81ED-4DB2-BD59-A6C34878D82A}">
                    <a16:rowId xmlns:a16="http://schemas.microsoft.com/office/drawing/2014/main" val="1023005454"/>
                  </a:ext>
                </a:extLst>
              </a:tr>
              <a:tr h="1542199">
                <a:tc>
                  <a:txBody>
                    <a:bodyPr/>
                    <a:lstStyle/>
                    <a:p>
                      <a:r>
                        <a:rPr lang="es-ES" sz="2400" dirty="0"/>
                        <a:t>Indicador</a:t>
                      </a:r>
                    </a:p>
                    <a:p>
                      <a:r>
                        <a:rPr lang="es-ES" sz="2400" dirty="0"/>
                        <a:t>2.3.2.</a:t>
                      </a:r>
                    </a:p>
                  </a:txBody>
                  <a:tcPr/>
                </a:tc>
                <a:tc>
                  <a:txBody>
                    <a:bodyPr/>
                    <a:lstStyle/>
                    <a:p>
                      <a:r>
                        <a:rPr lang="es-ES" sz="2400" dirty="0"/>
                        <a:t>Media de ingresos de los productores de alimentos en pequeña escala, desglosada por </a:t>
                      </a:r>
                    </a:p>
                    <a:p>
                      <a:r>
                        <a:rPr lang="es-ES" sz="2400" dirty="0"/>
                        <a:t>sexo y condición indígena.</a:t>
                      </a:r>
                    </a:p>
                  </a:txBody>
                  <a:tcPr/>
                </a:tc>
                <a:extLst>
                  <a:ext uri="{0D108BD9-81ED-4DB2-BD59-A6C34878D82A}">
                    <a16:rowId xmlns:a16="http://schemas.microsoft.com/office/drawing/2014/main" val="169843187"/>
                  </a:ext>
                </a:extLst>
              </a:tr>
            </a:tbl>
          </a:graphicData>
        </a:graphic>
      </p:graphicFrame>
      <p:sp>
        <p:nvSpPr>
          <p:cNvPr id="22" name="CuadroTexto 21">
            <a:extLst>
              <a:ext uri="{FF2B5EF4-FFF2-40B4-BE49-F238E27FC236}">
                <a16:creationId xmlns:a16="http://schemas.microsoft.com/office/drawing/2014/main" id="{86ABA2F6-68DF-88F5-7CC7-FBC42B87C8CE}"/>
              </a:ext>
            </a:extLst>
          </p:cNvPr>
          <p:cNvSpPr txBox="1"/>
          <p:nvPr/>
        </p:nvSpPr>
        <p:spPr>
          <a:xfrm>
            <a:off x="1752600" y="7512903"/>
            <a:ext cx="4819650" cy="830997"/>
          </a:xfrm>
          <a:prstGeom prst="rect">
            <a:avLst/>
          </a:prstGeom>
          <a:noFill/>
        </p:spPr>
        <p:txBody>
          <a:bodyPr wrap="square">
            <a:spAutoFit/>
          </a:bodyPr>
          <a:lstStyle/>
          <a:p>
            <a:r>
              <a:rPr lang="es-ES" sz="2400" dirty="0"/>
              <a:t>Meta e indicador del ODS2-Hambre cero</a:t>
            </a:r>
            <a:endParaRPr lang="es-ES" sz="2000" dirty="0"/>
          </a:p>
        </p:txBody>
      </p:sp>
      <p:cxnSp>
        <p:nvCxnSpPr>
          <p:cNvPr id="24" name="Conector recto de flecha 23">
            <a:extLst>
              <a:ext uri="{FF2B5EF4-FFF2-40B4-BE49-F238E27FC236}">
                <a16:creationId xmlns:a16="http://schemas.microsoft.com/office/drawing/2014/main" id="{71E9E161-A7C1-DB68-595B-7C310A2A4268}"/>
              </a:ext>
            </a:extLst>
          </p:cNvPr>
          <p:cNvCxnSpPr>
            <a:cxnSpLocks/>
          </p:cNvCxnSpPr>
          <p:nvPr/>
        </p:nvCxnSpPr>
        <p:spPr>
          <a:xfrm>
            <a:off x="5638800" y="7734300"/>
            <a:ext cx="3657600"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68234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2F792-2F54-B51D-8949-0CA4B32FCA49}"/>
              </a:ext>
            </a:extLst>
          </p:cNvPr>
          <p:cNvSpPr>
            <a:spLocks noGrp="1"/>
          </p:cNvSpPr>
          <p:nvPr>
            <p:ph type="title"/>
          </p:nvPr>
        </p:nvSpPr>
        <p:spPr>
          <a:xfrm>
            <a:off x="1066800" y="364764"/>
            <a:ext cx="13218318" cy="1988345"/>
          </a:xfrm>
        </p:spPr>
        <p:txBody>
          <a:bodyPr>
            <a:normAutofit fontScale="90000"/>
          </a:bodyPr>
          <a:lstStyle/>
          <a:p>
            <a:pPr algn="r"/>
            <a:r>
              <a:rPr lang="es-ES" sz="5400" dirty="0">
                <a:solidFill>
                  <a:schemeClr val="accent6">
                    <a:lumMod val="75000"/>
                  </a:schemeClr>
                </a:solidFill>
                <a:latin typeface="Berlin Sans FB Demi" panose="020E0802020502020306" pitchFamily="34" charset="0"/>
              </a:rPr>
              <a:t>3.6. Reto 5: promover el empleo y garantizar </a:t>
            </a:r>
            <a:br>
              <a:rPr lang="es-ES" sz="5400" dirty="0">
                <a:solidFill>
                  <a:schemeClr val="accent6">
                    <a:lumMod val="75000"/>
                  </a:schemeClr>
                </a:solidFill>
                <a:latin typeface="Berlin Sans FB Demi" panose="020E0802020502020306" pitchFamily="34" charset="0"/>
              </a:rPr>
            </a:br>
            <a:r>
              <a:rPr lang="es-ES" sz="5400" dirty="0">
                <a:solidFill>
                  <a:schemeClr val="accent6">
                    <a:lumMod val="75000"/>
                  </a:schemeClr>
                </a:solidFill>
                <a:latin typeface="Berlin Sans FB Demi" panose="020E0802020502020306" pitchFamily="34" charset="0"/>
              </a:rPr>
              <a:t>la educación</a:t>
            </a:r>
          </a:p>
        </p:txBody>
      </p:sp>
      <p:sp>
        <p:nvSpPr>
          <p:cNvPr id="10" name="CuadroTexto 9">
            <a:extLst>
              <a:ext uri="{FF2B5EF4-FFF2-40B4-BE49-F238E27FC236}">
                <a16:creationId xmlns:a16="http://schemas.microsoft.com/office/drawing/2014/main" id="{C21A593C-562A-5D11-EF75-113635BF6EAB}"/>
              </a:ext>
            </a:extLst>
          </p:cNvPr>
          <p:cNvSpPr txBox="1"/>
          <p:nvPr/>
        </p:nvSpPr>
        <p:spPr>
          <a:xfrm>
            <a:off x="1447800" y="2674033"/>
            <a:ext cx="9677400" cy="1938992"/>
          </a:xfrm>
          <a:prstGeom prst="rect">
            <a:avLst/>
          </a:prstGeom>
          <a:noFill/>
        </p:spPr>
        <p:txBody>
          <a:bodyPr wrap="square">
            <a:spAutoFit/>
          </a:bodyPr>
          <a:lstStyle/>
          <a:p>
            <a:r>
              <a:rPr lang="es-ES" sz="2000" dirty="0"/>
              <a:t>Promover el crecimiento económico sostenido, inclusivo y sostenible, el empleo pleno y productivo y el trabajo  decente para todos—, cuyo título se puede acortar, quedando como ODS 8-Trabajo decente y crecimiento económico,</a:t>
            </a:r>
          </a:p>
          <a:p>
            <a:r>
              <a:rPr lang="es-ES" sz="2000" dirty="0"/>
              <a:t>El principal reto es que haya trabajo para todos, es decir, un trabajo productivo que proporcione un salario justo, protección social, seguridad en el  lugar de trabajo y las mejores posibilidades para el desarrollo personal. </a:t>
            </a:r>
          </a:p>
        </p:txBody>
      </p:sp>
      <p:graphicFrame>
        <p:nvGraphicFramePr>
          <p:cNvPr id="11" name="Tabla 10">
            <a:extLst>
              <a:ext uri="{FF2B5EF4-FFF2-40B4-BE49-F238E27FC236}">
                <a16:creationId xmlns:a16="http://schemas.microsoft.com/office/drawing/2014/main" id="{F537E4DE-062F-BE80-DB3E-EE2E6C4D838D}"/>
              </a:ext>
            </a:extLst>
          </p:cNvPr>
          <p:cNvGraphicFramePr>
            <a:graphicFrameLocks noGrp="1"/>
          </p:cNvGraphicFramePr>
          <p:nvPr>
            <p:extLst>
              <p:ext uri="{D42A27DB-BD31-4B8C-83A1-F6EECF244321}">
                <p14:modId xmlns:p14="http://schemas.microsoft.com/office/powerpoint/2010/main" val="3601922837"/>
              </p:ext>
            </p:extLst>
          </p:nvPr>
        </p:nvGraphicFramePr>
        <p:xfrm>
          <a:off x="1447800" y="4914900"/>
          <a:ext cx="10058400" cy="3429000"/>
        </p:xfrm>
        <a:graphic>
          <a:graphicData uri="http://schemas.openxmlformats.org/drawingml/2006/table">
            <a:tbl>
              <a:tblPr firstRow="1" bandRow="1">
                <a:tableStyleId>{3B4B98B0-60AC-42C2-AFA5-B58CD77FA1E5}</a:tableStyleId>
              </a:tblPr>
              <a:tblGrid>
                <a:gridCol w="2302524">
                  <a:extLst>
                    <a:ext uri="{9D8B030D-6E8A-4147-A177-3AD203B41FA5}">
                      <a16:colId xmlns:a16="http://schemas.microsoft.com/office/drawing/2014/main" val="3812890341"/>
                    </a:ext>
                  </a:extLst>
                </a:gridCol>
                <a:gridCol w="7755876">
                  <a:extLst>
                    <a:ext uri="{9D8B030D-6E8A-4147-A177-3AD203B41FA5}">
                      <a16:colId xmlns:a16="http://schemas.microsoft.com/office/drawing/2014/main" val="1639092387"/>
                    </a:ext>
                  </a:extLst>
                </a:gridCol>
              </a:tblGrid>
              <a:tr h="1976807">
                <a:tc>
                  <a:txBody>
                    <a:bodyPr/>
                    <a:lstStyle/>
                    <a:p>
                      <a:r>
                        <a:rPr lang="es-ES" sz="2400" dirty="0"/>
                        <a:t>Meta 8.5</a:t>
                      </a:r>
                      <a:r>
                        <a:rPr lang="es-ES" dirty="0"/>
                        <a:t>. </a:t>
                      </a:r>
                    </a:p>
                  </a:txBody>
                  <a:tcPr/>
                </a:tc>
                <a:tc>
                  <a:txBody>
                    <a:bodyPr/>
                    <a:lstStyle/>
                    <a:p>
                      <a:r>
                        <a:rPr lang="es-ES" sz="2400" b="0" dirty="0"/>
                        <a:t>De aquí al 2030, lograr el empleo pleno y productivo y el trabajo decente para todas las </a:t>
                      </a:r>
                    </a:p>
                    <a:p>
                      <a:r>
                        <a:rPr lang="es-ES" sz="2400" b="0" dirty="0"/>
                        <a:t>mujeres y los hombres, incluidos los jóvenes y las personas con discapacidad, así como la </a:t>
                      </a:r>
                    </a:p>
                    <a:p>
                      <a:r>
                        <a:rPr lang="es-ES" sz="2400" b="0" dirty="0"/>
                        <a:t>igualdad de remuneración por trabajo de igual valor.</a:t>
                      </a:r>
                    </a:p>
                  </a:txBody>
                  <a:tcPr/>
                </a:tc>
                <a:extLst>
                  <a:ext uri="{0D108BD9-81ED-4DB2-BD59-A6C34878D82A}">
                    <a16:rowId xmlns:a16="http://schemas.microsoft.com/office/drawing/2014/main" val="1023005454"/>
                  </a:ext>
                </a:extLst>
              </a:tr>
              <a:tr h="1452193">
                <a:tc>
                  <a:txBody>
                    <a:bodyPr/>
                    <a:lstStyle/>
                    <a:p>
                      <a:r>
                        <a:rPr lang="es-ES" sz="2400" dirty="0"/>
                        <a:t>Indicador</a:t>
                      </a:r>
                    </a:p>
                    <a:p>
                      <a:r>
                        <a:rPr lang="es-ES" sz="2400" dirty="0"/>
                        <a:t>8.4.1.</a:t>
                      </a:r>
                    </a:p>
                  </a:txBody>
                  <a:tcPr/>
                </a:tc>
                <a:tc>
                  <a:txBody>
                    <a:bodyPr/>
                    <a:lstStyle/>
                    <a:p>
                      <a:r>
                        <a:rPr lang="es-ES" sz="2400" dirty="0"/>
                        <a:t>Huella material en términos absolutos, huella material per cápita y huella por PIB.</a:t>
                      </a:r>
                    </a:p>
                  </a:txBody>
                  <a:tcPr/>
                </a:tc>
                <a:extLst>
                  <a:ext uri="{0D108BD9-81ED-4DB2-BD59-A6C34878D82A}">
                    <a16:rowId xmlns:a16="http://schemas.microsoft.com/office/drawing/2014/main" val="169843187"/>
                  </a:ext>
                </a:extLst>
              </a:tr>
            </a:tbl>
          </a:graphicData>
        </a:graphic>
      </p:graphicFrame>
      <p:sp>
        <p:nvSpPr>
          <p:cNvPr id="13" name="CuadroTexto 12">
            <a:extLst>
              <a:ext uri="{FF2B5EF4-FFF2-40B4-BE49-F238E27FC236}">
                <a16:creationId xmlns:a16="http://schemas.microsoft.com/office/drawing/2014/main" id="{AC14456E-E1C0-64B1-D313-4844EEBB6B0D}"/>
              </a:ext>
            </a:extLst>
          </p:cNvPr>
          <p:cNvSpPr txBox="1"/>
          <p:nvPr/>
        </p:nvSpPr>
        <p:spPr>
          <a:xfrm>
            <a:off x="11963400" y="6463370"/>
            <a:ext cx="5029200" cy="707886"/>
          </a:xfrm>
          <a:prstGeom prst="rect">
            <a:avLst/>
          </a:prstGeom>
          <a:noFill/>
        </p:spPr>
        <p:txBody>
          <a:bodyPr wrap="square">
            <a:spAutoFit/>
          </a:bodyPr>
          <a:lstStyle/>
          <a:p>
            <a:pPr algn="r"/>
            <a:r>
              <a:rPr lang="es-ES" sz="2000" b="1" dirty="0"/>
              <a:t>Meta e indicador del ODS8-Trabajo de calidad y crecimiento económico</a:t>
            </a:r>
            <a:endParaRPr lang="es-ES" b="1" dirty="0"/>
          </a:p>
        </p:txBody>
      </p:sp>
      <p:pic>
        <p:nvPicPr>
          <p:cNvPr id="17" name="Gráfico 16" descr="Mujer trabajadora de la construcción contorno">
            <a:extLst>
              <a:ext uri="{FF2B5EF4-FFF2-40B4-BE49-F238E27FC236}">
                <a16:creationId xmlns:a16="http://schemas.microsoft.com/office/drawing/2014/main" id="{0BA8C8A9-D27B-8EF3-990F-77A34EF2FD8A}"/>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3716000" y="2982525"/>
            <a:ext cx="2438400" cy="2438400"/>
          </a:xfrm>
          <a:prstGeom prst="rect">
            <a:avLst/>
          </a:prstGeom>
        </p:spPr>
      </p:pic>
    </p:spTree>
    <p:extLst>
      <p:ext uri="{BB962C8B-B14F-4D97-AF65-F5344CB8AC3E}">
        <p14:creationId xmlns:p14="http://schemas.microsoft.com/office/powerpoint/2010/main" val="196445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7D9EDC-5A52-C280-EC38-125AB4390F1A}"/>
              </a:ext>
            </a:extLst>
          </p:cNvPr>
          <p:cNvSpPr>
            <a:spLocks noGrp="1"/>
          </p:cNvSpPr>
          <p:nvPr>
            <p:ph type="title"/>
          </p:nvPr>
        </p:nvSpPr>
        <p:spPr/>
        <p:txBody>
          <a:bodyPr>
            <a:normAutofit/>
          </a:bodyPr>
          <a:lstStyle/>
          <a:p>
            <a:r>
              <a:rPr lang="es-ES" sz="5400" dirty="0">
                <a:solidFill>
                  <a:schemeClr val="accent6">
                    <a:lumMod val="75000"/>
                  </a:schemeClr>
                </a:solidFill>
                <a:latin typeface="Berlin Sans FB Demi" panose="020E0802020502020306" pitchFamily="34" charset="0"/>
              </a:rPr>
              <a:t>3.6.1. Precariedad laboral, desempleo y desigualdad</a:t>
            </a:r>
          </a:p>
        </p:txBody>
      </p:sp>
      <p:sp>
        <p:nvSpPr>
          <p:cNvPr id="8" name="CuadroTexto 7">
            <a:extLst>
              <a:ext uri="{FF2B5EF4-FFF2-40B4-BE49-F238E27FC236}">
                <a16:creationId xmlns:a16="http://schemas.microsoft.com/office/drawing/2014/main" id="{436C2F60-7F70-E796-2AC3-388F207ADCBE}"/>
              </a:ext>
            </a:extLst>
          </p:cNvPr>
          <p:cNvSpPr txBox="1"/>
          <p:nvPr/>
        </p:nvSpPr>
        <p:spPr>
          <a:xfrm>
            <a:off x="1245394" y="2563799"/>
            <a:ext cx="9144000" cy="707886"/>
          </a:xfrm>
          <a:prstGeom prst="rect">
            <a:avLst/>
          </a:prstGeom>
          <a:noFill/>
        </p:spPr>
        <p:txBody>
          <a:bodyPr wrap="square">
            <a:spAutoFit/>
          </a:bodyPr>
          <a:lstStyle/>
          <a:p>
            <a:r>
              <a:rPr lang="es-ES" sz="2000" dirty="0"/>
              <a:t>La precariedad laboral provoca desigualdad, pobreza y exclusión social incluso entre las personas que tienen empleo.</a:t>
            </a:r>
          </a:p>
        </p:txBody>
      </p:sp>
      <p:sp>
        <p:nvSpPr>
          <p:cNvPr id="10" name="CuadroTexto 9">
            <a:extLst>
              <a:ext uri="{FF2B5EF4-FFF2-40B4-BE49-F238E27FC236}">
                <a16:creationId xmlns:a16="http://schemas.microsoft.com/office/drawing/2014/main" id="{C2B6BC04-DF85-E036-C0FB-CFC15F38A8B1}"/>
              </a:ext>
            </a:extLst>
          </p:cNvPr>
          <p:cNvSpPr txBox="1"/>
          <p:nvPr/>
        </p:nvSpPr>
        <p:spPr>
          <a:xfrm>
            <a:off x="1245394" y="3307345"/>
            <a:ext cx="9144000" cy="1015663"/>
          </a:xfrm>
          <a:prstGeom prst="rect">
            <a:avLst/>
          </a:prstGeom>
          <a:noFill/>
        </p:spPr>
        <p:txBody>
          <a:bodyPr wrap="square">
            <a:spAutoFit/>
          </a:bodyPr>
          <a:lstStyle/>
          <a:p>
            <a:r>
              <a:rPr lang="es-ES" sz="2000" dirty="0"/>
              <a:t>La situación de desempleo, que afecta especialmente a los jóvenes y a los mayores de 55 años. Igualmente, el desempleo femenino es mayor que el desempleo masculino </a:t>
            </a:r>
          </a:p>
        </p:txBody>
      </p:sp>
      <p:sp>
        <p:nvSpPr>
          <p:cNvPr id="12" name="CuadroTexto 11">
            <a:extLst>
              <a:ext uri="{FF2B5EF4-FFF2-40B4-BE49-F238E27FC236}">
                <a16:creationId xmlns:a16="http://schemas.microsoft.com/office/drawing/2014/main" id="{E34FCDCF-243A-E999-6B49-5D2ADAB37E98}"/>
              </a:ext>
            </a:extLst>
          </p:cNvPr>
          <p:cNvSpPr txBox="1"/>
          <p:nvPr/>
        </p:nvSpPr>
        <p:spPr>
          <a:xfrm>
            <a:off x="1245394" y="4537712"/>
            <a:ext cx="9041607" cy="1323439"/>
          </a:xfrm>
          <a:prstGeom prst="rect">
            <a:avLst/>
          </a:prstGeom>
          <a:noFill/>
        </p:spPr>
        <p:txBody>
          <a:bodyPr wrap="square">
            <a:spAutoFit/>
          </a:bodyPr>
          <a:lstStyle/>
          <a:p>
            <a:r>
              <a:rPr lang="es-ES" sz="2000" dirty="0"/>
              <a:t>El ODS 8 vincula la consecución de un trabajo decente para todos al crecimiento económico, este crecimiento económico debe ser sostenible y no puede basarse en la sobreexplotación de los recursos y en la contaminación sin límite del  medioambiente como hasta ahora. </a:t>
            </a:r>
          </a:p>
        </p:txBody>
      </p:sp>
      <p:sp>
        <p:nvSpPr>
          <p:cNvPr id="14" name="CuadroTexto 13">
            <a:extLst>
              <a:ext uri="{FF2B5EF4-FFF2-40B4-BE49-F238E27FC236}">
                <a16:creationId xmlns:a16="http://schemas.microsoft.com/office/drawing/2014/main" id="{CAC75921-23E4-E391-AD85-36E76A87CA9C}"/>
              </a:ext>
            </a:extLst>
          </p:cNvPr>
          <p:cNvSpPr txBox="1"/>
          <p:nvPr/>
        </p:nvSpPr>
        <p:spPr>
          <a:xfrm>
            <a:off x="1259682" y="5986136"/>
            <a:ext cx="9144000" cy="523220"/>
          </a:xfrm>
          <a:prstGeom prst="rect">
            <a:avLst/>
          </a:prstGeom>
          <a:noFill/>
        </p:spPr>
        <p:txBody>
          <a:bodyPr wrap="square">
            <a:spAutoFit/>
          </a:bodyPr>
          <a:lstStyle/>
          <a:p>
            <a:r>
              <a:rPr lang="es-ES" sz="2800" dirty="0">
                <a:solidFill>
                  <a:schemeClr val="accent6">
                    <a:lumMod val="75000"/>
                  </a:schemeClr>
                </a:solidFill>
                <a:latin typeface="Berlin Sans FB Demi" panose="020E0802020502020306" pitchFamily="34" charset="0"/>
              </a:rPr>
              <a:t>3.6.2. Educación de calidad y empleo</a:t>
            </a:r>
          </a:p>
        </p:txBody>
      </p:sp>
      <p:sp>
        <p:nvSpPr>
          <p:cNvPr id="16" name="CuadroTexto 15">
            <a:extLst>
              <a:ext uri="{FF2B5EF4-FFF2-40B4-BE49-F238E27FC236}">
                <a16:creationId xmlns:a16="http://schemas.microsoft.com/office/drawing/2014/main" id="{4ABEE565-208D-13BC-9E6F-20E96E0BA021}"/>
              </a:ext>
            </a:extLst>
          </p:cNvPr>
          <p:cNvSpPr txBox="1"/>
          <p:nvPr/>
        </p:nvSpPr>
        <p:spPr>
          <a:xfrm>
            <a:off x="1213094" y="6597940"/>
            <a:ext cx="9144000" cy="1446550"/>
          </a:xfrm>
          <a:prstGeom prst="rect">
            <a:avLst/>
          </a:prstGeom>
          <a:noFill/>
        </p:spPr>
        <p:txBody>
          <a:bodyPr wrap="square">
            <a:spAutoFit/>
          </a:bodyPr>
          <a:lstStyle/>
          <a:p>
            <a:r>
              <a:rPr lang="es-ES" sz="2200" dirty="0"/>
              <a:t>El desempleo afecta mayoritariamente a las personas con menos formación académica. De esta forma, el ODS 4-Garantizar  una educación inclusiva y equitatividad de calidad y promover oportunidades de aprendizaje  permanente para todos </a:t>
            </a:r>
          </a:p>
        </p:txBody>
      </p:sp>
      <p:pic>
        <p:nvPicPr>
          <p:cNvPr id="1028" name="Picture 4" descr="Portapapeles, Escribir, Notas, Médico">
            <a:extLst>
              <a:ext uri="{FF2B5EF4-FFF2-40B4-BE49-F238E27FC236}">
                <a16:creationId xmlns:a16="http://schemas.microsoft.com/office/drawing/2014/main" id="{27D12300-878F-8960-6170-E58BEEC88E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1200" y="7036595"/>
            <a:ext cx="2590800" cy="25908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Tabla 16">
            <a:extLst>
              <a:ext uri="{FF2B5EF4-FFF2-40B4-BE49-F238E27FC236}">
                <a16:creationId xmlns:a16="http://schemas.microsoft.com/office/drawing/2014/main" id="{132AD7D2-CC2E-83C0-5498-41AA4413D1A4}"/>
              </a:ext>
            </a:extLst>
          </p:cNvPr>
          <p:cNvGraphicFramePr>
            <a:graphicFrameLocks noGrp="1"/>
          </p:cNvGraphicFramePr>
          <p:nvPr>
            <p:extLst>
              <p:ext uri="{D42A27DB-BD31-4B8C-83A1-F6EECF244321}">
                <p14:modId xmlns:p14="http://schemas.microsoft.com/office/powerpoint/2010/main" val="1327342001"/>
              </p:ext>
            </p:extLst>
          </p:nvPr>
        </p:nvGraphicFramePr>
        <p:xfrm>
          <a:off x="11811000" y="3509268"/>
          <a:ext cx="5943600" cy="4506647"/>
        </p:xfrm>
        <a:graphic>
          <a:graphicData uri="http://schemas.openxmlformats.org/drawingml/2006/table">
            <a:tbl>
              <a:tblPr firstRow="1" bandRow="1">
                <a:tableStyleId>{3B4B98B0-60AC-42C2-AFA5-B58CD77FA1E5}</a:tableStyleId>
              </a:tblPr>
              <a:tblGrid>
                <a:gridCol w="1752600">
                  <a:extLst>
                    <a:ext uri="{9D8B030D-6E8A-4147-A177-3AD203B41FA5}">
                      <a16:colId xmlns:a16="http://schemas.microsoft.com/office/drawing/2014/main" val="3812890341"/>
                    </a:ext>
                  </a:extLst>
                </a:gridCol>
                <a:gridCol w="4191000">
                  <a:extLst>
                    <a:ext uri="{9D8B030D-6E8A-4147-A177-3AD203B41FA5}">
                      <a16:colId xmlns:a16="http://schemas.microsoft.com/office/drawing/2014/main" val="1639092387"/>
                    </a:ext>
                  </a:extLst>
                </a:gridCol>
              </a:tblGrid>
              <a:tr h="1976807">
                <a:tc>
                  <a:txBody>
                    <a:bodyPr/>
                    <a:lstStyle/>
                    <a:p>
                      <a:r>
                        <a:rPr lang="es-ES" sz="2400" dirty="0"/>
                        <a:t>Meta 4.1</a:t>
                      </a:r>
                      <a:r>
                        <a:rPr lang="es-ES" dirty="0"/>
                        <a:t>. </a:t>
                      </a:r>
                    </a:p>
                  </a:txBody>
                  <a:tcPr/>
                </a:tc>
                <a:tc>
                  <a:txBody>
                    <a:bodyPr/>
                    <a:lstStyle/>
                    <a:p>
                      <a:r>
                        <a:rPr lang="es-ES" sz="2000" b="0" dirty="0"/>
                        <a:t>De aquí al 2030, asegurar que todas las niñas y todos los niños terminen la enseñanza primaria y secundaria, que ha de ser gratuita, equitativa y de calidad y producir resultados de aprendizaje pertinentes y efectivos.</a:t>
                      </a:r>
                    </a:p>
                  </a:txBody>
                  <a:tcPr/>
                </a:tc>
                <a:extLst>
                  <a:ext uri="{0D108BD9-81ED-4DB2-BD59-A6C34878D82A}">
                    <a16:rowId xmlns:a16="http://schemas.microsoft.com/office/drawing/2014/main" val="1023005454"/>
                  </a:ext>
                </a:extLst>
              </a:tr>
              <a:tr h="1452193">
                <a:tc>
                  <a:txBody>
                    <a:bodyPr/>
                    <a:lstStyle/>
                    <a:p>
                      <a:r>
                        <a:rPr lang="es-ES" sz="2400" dirty="0"/>
                        <a:t>Indicador</a:t>
                      </a:r>
                    </a:p>
                    <a:p>
                      <a:r>
                        <a:rPr lang="es-ES" sz="2400" dirty="0"/>
                        <a:t>8.4.1.</a:t>
                      </a:r>
                    </a:p>
                  </a:txBody>
                  <a:tcPr/>
                </a:tc>
                <a:tc>
                  <a:txBody>
                    <a:bodyPr/>
                    <a:lstStyle/>
                    <a:p>
                      <a:r>
                        <a:rPr lang="es-ES" sz="2000" dirty="0"/>
                        <a:t>Proporción de niños, niñas y adolescentes que, en los cursos segundo y tercero, al final de la enseñanza primaria y al final de la enseñanza secundaria inferior, han alcanzado al menos un nivel mínimo de competencia en lectura y matemáticas, desglosada por sexo.</a:t>
                      </a:r>
                    </a:p>
                  </a:txBody>
                  <a:tcPr/>
                </a:tc>
                <a:extLst>
                  <a:ext uri="{0D108BD9-81ED-4DB2-BD59-A6C34878D82A}">
                    <a16:rowId xmlns:a16="http://schemas.microsoft.com/office/drawing/2014/main" val="169843187"/>
                  </a:ext>
                </a:extLst>
              </a:tr>
            </a:tbl>
          </a:graphicData>
        </a:graphic>
      </p:graphicFrame>
      <p:sp>
        <p:nvSpPr>
          <p:cNvPr id="18" name="CuadroTexto 17">
            <a:extLst>
              <a:ext uri="{FF2B5EF4-FFF2-40B4-BE49-F238E27FC236}">
                <a16:creationId xmlns:a16="http://schemas.microsoft.com/office/drawing/2014/main" id="{A55EB129-3BDB-F963-CB77-FD46BE8A62D7}"/>
              </a:ext>
            </a:extLst>
          </p:cNvPr>
          <p:cNvSpPr txBox="1"/>
          <p:nvPr/>
        </p:nvSpPr>
        <p:spPr>
          <a:xfrm>
            <a:off x="11811000" y="2345637"/>
            <a:ext cx="5029200" cy="707886"/>
          </a:xfrm>
          <a:prstGeom prst="rect">
            <a:avLst/>
          </a:prstGeom>
          <a:noFill/>
        </p:spPr>
        <p:txBody>
          <a:bodyPr wrap="square">
            <a:spAutoFit/>
          </a:bodyPr>
          <a:lstStyle/>
          <a:p>
            <a:pPr algn="r"/>
            <a:r>
              <a:rPr lang="es-ES" sz="2000" b="1" dirty="0"/>
              <a:t>Meta e indicador del ODS4-Educación de calidad</a:t>
            </a:r>
            <a:endParaRPr lang="es-ES" b="1" dirty="0"/>
          </a:p>
        </p:txBody>
      </p:sp>
    </p:spTree>
    <p:extLst>
      <p:ext uri="{BB962C8B-B14F-4D97-AF65-F5344CB8AC3E}">
        <p14:creationId xmlns:p14="http://schemas.microsoft.com/office/powerpoint/2010/main" val="3424964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E8E2B4-B473-F640-A7B1-A4C06E1C5B8A}"/>
              </a:ext>
            </a:extLst>
          </p:cNvPr>
          <p:cNvSpPr>
            <a:spLocks noGrp="1"/>
          </p:cNvSpPr>
          <p:nvPr>
            <p:ph type="title"/>
          </p:nvPr>
        </p:nvSpPr>
        <p:spPr/>
        <p:txBody>
          <a:bodyPr>
            <a:normAutofit/>
          </a:bodyPr>
          <a:lstStyle/>
          <a:p>
            <a:r>
              <a:rPr lang="es-ES" sz="5400" dirty="0">
                <a:solidFill>
                  <a:schemeClr val="accent6">
                    <a:lumMod val="75000"/>
                  </a:schemeClr>
                </a:solidFill>
                <a:latin typeface="Berlin Sans FB Demi" panose="020E0802020502020306" pitchFamily="34" charset="0"/>
              </a:rPr>
              <a:t>3.7. Reto 6: acabar con la pobreza </a:t>
            </a:r>
            <a:br>
              <a:rPr lang="es-ES" sz="5400" dirty="0">
                <a:solidFill>
                  <a:schemeClr val="accent6">
                    <a:lumMod val="75000"/>
                  </a:schemeClr>
                </a:solidFill>
                <a:latin typeface="Berlin Sans FB Demi" panose="020E0802020502020306" pitchFamily="34" charset="0"/>
              </a:rPr>
            </a:br>
            <a:r>
              <a:rPr lang="es-ES" sz="5400" dirty="0">
                <a:solidFill>
                  <a:schemeClr val="accent6">
                    <a:lumMod val="75000"/>
                  </a:schemeClr>
                </a:solidFill>
                <a:latin typeface="Berlin Sans FB Demi" panose="020E0802020502020306" pitchFamily="34" charset="0"/>
              </a:rPr>
              <a:t>y con la desigualdad económica</a:t>
            </a:r>
          </a:p>
        </p:txBody>
      </p:sp>
      <p:sp>
        <p:nvSpPr>
          <p:cNvPr id="8" name="CuadroTexto 7">
            <a:extLst>
              <a:ext uri="{FF2B5EF4-FFF2-40B4-BE49-F238E27FC236}">
                <a16:creationId xmlns:a16="http://schemas.microsoft.com/office/drawing/2014/main" id="{9E2BD4A1-A127-DD8A-1362-63E70D59B184}"/>
              </a:ext>
            </a:extLst>
          </p:cNvPr>
          <p:cNvSpPr txBox="1"/>
          <p:nvPr/>
        </p:nvSpPr>
        <p:spPr>
          <a:xfrm>
            <a:off x="1447800" y="3009900"/>
            <a:ext cx="4953000" cy="2554545"/>
          </a:xfrm>
          <a:prstGeom prst="rect">
            <a:avLst/>
          </a:prstGeom>
          <a:noFill/>
        </p:spPr>
        <p:txBody>
          <a:bodyPr wrap="square">
            <a:spAutoFit/>
          </a:bodyPr>
          <a:lstStyle/>
          <a:p>
            <a:r>
              <a:rPr lang="es-ES" sz="2000" dirty="0"/>
              <a:t>Los avances han sido insuficientes, la pandemia de la COVID-19, la aceleración del cambio climático y la guerra en Ucrania, entre otras razones, han provocado el encarecimiento de la energía, de los alimentos y de los costes de financiación, dificultando la consecución de los objetivos. </a:t>
            </a:r>
          </a:p>
        </p:txBody>
      </p:sp>
      <p:sp>
        <p:nvSpPr>
          <p:cNvPr id="10" name="CuadroTexto 9">
            <a:extLst>
              <a:ext uri="{FF2B5EF4-FFF2-40B4-BE49-F238E27FC236}">
                <a16:creationId xmlns:a16="http://schemas.microsoft.com/office/drawing/2014/main" id="{24B63FFA-9900-CFD0-C470-DD4315657F73}"/>
              </a:ext>
            </a:extLst>
          </p:cNvPr>
          <p:cNvSpPr txBox="1"/>
          <p:nvPr/>
        </p:nvSpPr>
        <p:spPr>
          <a:xfrm>
            <a:off x="1257300" y="5905500"/>
            <a:ext cx="5334000" cy="1323439"/>
          </a:xfrm>
          <a:prstGeom prst="rect">
            <a:avLst/>
          </a:prstGeom>
          <a:noFill/>
        </p:spPr>
        <p:txBody>
          <a:bodyPr wrap="square">
            <a:spAutoFit/>
          </a:bodyPr>
          <a:lstStyle/>
          <a:p>
            <a:r>
              <a:rPr lang="es-ES" sz="2000" dirty="0"/>
              <a:t>En el 2022, había en España 4,2 millones de personas que sufrían de pobreza severa, es decir, vivían en hogares con unos ingresos diarios inferiores a 19 euros. </a:t>
            </a:r>
          </a:p>
        </p:txBody>
      </p:sp>
      <p:pic>
        <p:nvPicPr>
          <p:cNvPr id="12" name="Imagen 11" descr="Mapa&#10;&#10;Descripción generada automáticamente">
            <a:extLst>
              <a:ext uri="{FF2B5EF4-FFF2-40B4-BE49-F238E27FC236}">
                <a16:creationId xmlns:a16="http://schemas.microsoft.com/office/drawing/2014/main" id="{3DE455B0-77F7-5993-A8F6-BCE562CB6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473" y="3553509"/>
            <a:ext cx="8374380" cy="6027420"/>
          </a:xfrm>
          <a:prstGeom prst="rect">
            <a:avLst/>
          </a:prstGeom>
        </p:spPr>
      </p:pic>
      <p:cxnSp>
        <p:nvCxnSpPr>
          <p:cNvPr id="14" name="Conector: angular 13">
            <a:extLst>
              <a:ext uri="{FF2B5EF4-FFF2-40B4-BE49-F238E27FC236}">
                <a16:creationId xmlns:a16="http://schemas.microsoft.com/office/drawing/2014/main" id="{055A1B86-44A6-3E9B-06CD-D57BD6CF6B56}"/>
              </a:ext>
            </a:extLst>
          </p:cNvPr>
          <p:cNvCxnSpPr/>
          <p:nvPr/>
        </p:nvCxnSpPr>
        <p:spPr>
          <a:xfrm rot="16200000" flipH="1">
            <a:off x="3218338" y="6201750"/>
            <a:ext cx="3816000" cy="2556000"/>
          </a:xfrm>
          <a:prstGeom prst="bentConnector3">
            <a:avLst>
              <a:gd name="adj1" fmla="val -368"/>
            </a:avLst>
          </a:prstGeom>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E81C016C-182F-8112-AEEB-8E1DCB1508AC}"/>
              </a:ext>
            </a:extLst>
          </p:cNvPr>
          <p:cNvSpPr txBox="1"/>
          <p:nvPr/>
        </p:nvSpPr>
        <p:spPr>
          <a:xfrm>
            <a:off x="11591925" y="2019300"/>
            <a:ext cx="5257800" cy="1261884"/>
          </a:xfrm>
          <a:prstGeom prst="rect">
            <a:avLst/>
          </a:prstGeom>
          <a:noFill/>
        </p:spPr>
        <p:txBody>
          <a:bodyPr wrap="square">
            <a:spAutoFit/>
          </a:bodyPr>
          <a:lstStyle/>
          <a:p>
            <a:pPr algn="r"/>
            <a:r>
              <a:rPr lang="es-ES" sz="1900" b="1" dirty="0"/>
              <a:t>Tasa AROPE </a:t>
            </a:r>
            <a:r>
              <a:rPr lang="es-ES" sz="1900" b="1" i="1" dirty="0"/>
              <a:t>(at </a:t>
            </a:r>
            <a:r>
              <a:rPr lang="es-ES" sz="1900" b="1" i="1" dirty="0" err="1"/>
              <a:t>risk</a:t>
            </a:r>
            <a:r>
              <a:rPr lang="es-ES" sz="1900" b="1" i="1" dirty="0"/>
              <a:t> </a:t>
            </a:r>
            <a:r>
              <a:rPr lang="es-ES" sz="1900" b="1" i="1" dirty="0" err="1"/>
              <a:t>of</a:t>
            </a:r>
            <a:r>
              <a:rPr lang="es-ES" sz="1900" b="1" i="1" dirty="0"/>
              <a:t> </a:t>
            </a:r>
            <a:r>
              <a:rPr lang="es-ES" sz="1900" b="1" i="1" dirty="0" err="1"/>
              <a:t>poverty</a:t>
            </a:r>
            <a:r>
              <a:rPr lang="es-ES" sz="1900" b="1" i="1" dirty="0"/>
              <a:t> </a:t>
            </a:r>
            <a:r>
              <a:rPr lang="es-ES" sz="1900" b="1" i="1" dirty="0" err="1"/>
              <a:t>or</a:t>
            </a:r>
            <a:r>
              <a:rPr lang="es-ES" sz="1900" b="1" i="1" dirty="0"/>
              <a:t> social </a:t>
            </a:r>
            <a:r>
              <a:rPr lang="es-ES" sz="1900" b="1" i="1" dirty="0" err="1"/>
              <a:t>exclusion</a:t>
            </a:r>
            <a:r>
              <a:rPr lang="es-ES" sz="1900" b="1" i="1" dirty="0"/>
              <a:t>)</a:t>
            </a:r>
            <a:r>
              <a:rPr lang="es-ES" sz="1900" b="1" dirty="0"/>
              <a:t>, 2022. El porcentaje de la población española  que estaba en riesgo de pobreza y exclusión social.</a:t>
            </a:r>
          </a:p>
        </p:txBody>
      </p:sp>
    </p:spTree>
    <p:extLst>
      <p:ext uri="{BB962C8B-B14F-4D97-AF65-F5344CB8AC3E}">
        <p14:creationId xmlns:p14="http://schemas.microsoft.com/office/powerpoint/2010/main" val="3240435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a 6">
            <a:extLst>
              <a:ext uri="{FF2B5EF4-FFF2-40B4-BE49-F238E27FC236}">
                <a16:creationId xmlns:a16="http://schemas.microsoft.com/office/drawing/2014/main" id="{298A8D04-1E95-D563-9968-F7558523B9D4}"/>
              </a:ext>
            </a:extLst>
          </p:cNvPr>
          <p:cNvGraphicFramePr>
            <a:graphicFrameLocks noGrp="1"/>
          </p:cNvGraphicFramePr>
          <p:nvPr>
            <p:extLst>
              <p:ext uri="{D42A27DB-BD31-4B8C-83A1-F6EECF244321}">
                <p14:modId xmlns:p14="http://schemas.microsoft.com/office/powerpoint/2010/main" val="3812812065"/>
              </p:ext>
            </p:extLst>
          </p:nvPr>
        </p:nvGraphicFramePr>
        <p:xfrm>
          <a:off x="1524000" y="1866900"/>
          <a:ext cx="8229600" cy="4462549"/>
        </p:xfrm>
        <a:graphic>
          <a:graphicData uri="http://schemas.openxmlformats.org/drawingml/2006/table">
            <a:tbl>
              <a:tblPr firstRow="1" bandRow="1">
                <a:tableStyleId>{3B4B98B0-60AC-42C2-AFA5-B58CD77FA1E5}</a:tableStyleId>
              </a:tblPr>
              <a:tblGrid>
                <a:gridCol w="1548464">
                  <a:extLst>
                    <a:ext uri="{9D8B030D-6E8A-4147-A177-3AD203B41FA5}">
                      <a16:colId xmlns:a16="http://schemas.microsoft.com/office/drawing/2014/main" val="3812890341"/>
                    </a:ext>
                  </a:extLst>
                </a:gridCol>
                <a:gridCol w="6681136">
                  <a:extLst>
                    <a:ext uri="{9D8B030D-6E8A-4147-A177-3AD203B41FA5}">
                      <a16:colId xmlns:a16="http://schemas.microsoft.com/office/drawing/2014/main" val="1639092387"/>
                    </a:ext>
                  </a:extLst>
                </a:gridCol>
              </a:tblGrid>
              <a:tr h="1801091">
                <a:tc>
                  <a:txBody>
                    <a:bodyPr/>
                    <a:lstStyle/>
                    <a:p>
                      <a:r>
                        <a:rPr lang="es-ES" sz="2400" dirty="0"/>
                        <a:t>Meta 1.4.</a:t>
                      </a:r>
                      <a:r>
                        <a:rPr lang="es-ES" dirty="0"/>
                        <a:t> </a:t>
                      </a:r>
                    </a:p>
                  </a:txBody>
                  <a:tcPr/>
                </a:tc>
                <a:tc>
                  <a:txBody>
                    <a:bodyPr/>
                    <a:lstStyle/>
                    <a:p>
                      <a:r>
                        <a:rPr lang="es-ES" sz="2000" b="1" dirty="0"/>
                        <a:t>Para el 2030, garantizar que todos los hombres y mujeres, en particular los pobres y los más vulnerables, tengan los mismos derechos a los recursos económicos, así como acceso a los servicios básicos, </a:t>
                      </a:r>
                    </a:p>
                    <a:p>
                      <a:r>
                        <a:rPr lang="es-ES" sz="2000" b="1" dirty="0"/>
                        <a:t>la propiedad y el control de las tierras y otros bienes, la herencia, los recursos naturales, las nuevas </a:t>
                      </a:r>
                    </a:p>
                    <a:p>
                      <a:r>
                        <a:rPr lang="es-ES" sz="2000" b="1" dirty="0"/>
                        <a:t>tecnologías y los servicios económicos, incluida la </a:t>
                      </a:r>
                      <a:r>
                        <a:rPr lang="es-ES" sz="2000" b="1" dirty="0" err="1"/>
                        <a:t>microfinanciación</a:t>
                      </a:r>
                      <a:r>
                        <a:rPr lang="es-ES" sz="2000" b="1" dirty="0"/>
                        <a:t>.</a:t>
                      </a:r>
                    </a:p>
                  </a:txBody>
                  <a:tcPr/>
                </a:tc>
                <a:extLst>
                  <a:ext uri="{0D108BD9-81ED-4DB2-BD59-A6C34878D82A}">
                    <a16:rowId xmlns:a16="http://schemas.microsoft.com/office/drawing/2014/main" val="1023005454"/>
                  </a:ext>
                </a:extLst>
              </a:tr>
              <a:tr h="1323109">
                <a:tc>
                  <a:txBody>
                    <a:bodyPr/>
                    <a:lstStyle/>
                    <a:p>
                      <a:r>
                        <a:rPr lang="es-ES" sz="2400" dirty="0"/>
                        <a:t>Indicador</a:t>
                      </a:r>
                    </a:p>
                    <a:p>
                      <a:r>
                        <a:rPr lang="es-ES" sz="2400" dirty="0"/>
                        <a:t>1.4.1.</a:t>
                      </a:r>
                    </a:p>
                  </a:txBody>
                  <a:tcPr/>
                </a:tc>
                <a:tc>
                  <a:txBody>
                    <a:bodyPr/>
                    <a:lstStyle/>
                    <a:p>
                      <a:r>
                        <a:rPr lang="es-ES" sz="2000" dirty="0"/>
                        <a:t>Proporción de la población que vive en hogares con acceso a los servicios básicos.</a:t>
                      </a:r>
                    </a:p>
                  </a:txBody>
                  <a:tcPr/>
                </a:tc>
                <a:extLst>
                  <a:ext uri="{0D108BD9-81ED-4DB2-BD59-A6C34878D82A}">
                    <a16:rowId xmlns:a16="http://schemas.microsoft.com/office/drawing/2014/main" val="169843187"/>
                  </a:ext>
                </a:extLst>
              </a:tr>
            </a:tbl>
          </a:graphicData>
        </a:graphic>
      </p:graphicFrame>
      <p:sp>
        <p:nvSpPr>
          <p:cNvPr id="9" name="CuadroTexto 8">
            <a:extLst>
              <a:ext uri="{FF2B5EF4-FFF2-40B4-BE49-F238E27FC236}">
                <a16:creationId xmlns:a16="http://schemas.microsoft.com/office/drawing/2014/main" id="{2156B710-0FD0-FCFE-3A1C-E226287A686B}"/>
              </a:ext>
            </a:extLst>
          </p:cNvPr>
          <p:cNvSpPr txBox="1"/>
          <p:nvPr/>
        </p:nvSpPr>
        <p:spPr>
          <a:xfrm>
            <a:off x="1481137" y="1014286"/>
            <a:ext cx="5486400" cy="400110"/>
          </a:xfrm>
          <a:prstGeom prst="rect">
            <a:avLst/>
          </a:prstGeom>
          <a:noFill/>
        </p:spPr>
        <p:txBody>
          <a:bodyPr wrap="square">
            <a:spAutoFit/>
          </a:bodyPr>
          <a:lstStyle/>
          <a:p>
            <a:r>
              <a:rPr lang="es-ES" sz="2000" b="1" dirty="0"/>
              <a:t>Meta e indicador del ODS 1-Fin de la pobreza</a:t>
            </a:r>
          </a:p>
        </p:txBody>
      </p:sp>
      <p:sp>
        <p:nvSpPr>
          <p:cNvPr id="11" name="CuadroTexto 10">
            <a:extLst>
              <a:ext uri="{FF2B5EF4-FFF2-40B4-BE49-F238E27FC236}">
                <a16:creationId xmlns:a16="http://schemas.microsoft.com/office/drawing/2014/main" id="{BE8F16B9-FCB0-E399-49DE-F429BF4FDF33}"/>
              </a:ext>
            </a:extLst>
          </p:cNvPr>
          <p:cNvSpPr txBox="1"/>
          <p:nvPr/>
        </p:nvSpPr>
        <p:spPr>
          <a:xfrm>
            <a:off x="895276" y="6343736"/>
            <a:ext cx="6029326" cy="1938992"/>
          </a:xfrm>
          <a:prstGeom prst="rect">
            <a:avLst/>
          </a:prstGeom>
          <a:noFill/>
        </p:spPr>
        <p:txBody>
          <a:bodyPr wrap="square">
            <a:spAutoFit/>
          </a:bodyPr>
          <a:lstStyle/>
          <a:p>
            <a:r>
              <a:rPr lang="es-ES" sz="2000" dirty="0"/>
              <a:t>La Agenda 2030  ha incluido el objetivo de desarrollo sostenible número 10 —reducir la desigualdad en los países y entre ellos—, cuyo título completo se puede acortar a ODS 10-Reducción de las desigualdades, aunque este ODS no trata solo de cuestiones económicas.</a:t>
            </a:r>
          </a:p>
        </p:txBody>
      </p:sp>
      <p:pic>
        <p:nvPicPr>
          <p:cNvPr id="13" name="Imagen 12" descr="Diagrama&#10;&#10;Descripción generada automáticamente">
            <a:extLst>
              <a:ext uri="{FF2B5EF4-FFF2-40B4-BE49-F238E27FC236}">
                <a16:creationId xmlns:a16="http://schemas.microsoft.com/office/drawing/2014/main" id="{5E20E909-886C-5279-66BC-3119E83D07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7077" y="1214341"/>
            <a:ext cx="4953000" cy="4940983"/>
          </a:xfrm>
          <a:prstGeom prst="rect">
            <a:avLst/>
          </a:prstGeom>
        </p:spPr>
      </p:pic>
      <p:graphicFrame>
        <p:nvGraphicFramePr>
          <p:cNvPr id="14" name="Tabla 13">
            <a:extLst>
              <a:ext uri="{FF2B5EF4-FFF2-40B4-BE49-F238E27FC236}">
                <a16:creationId xmlns:a16="http://schemas.microsoft.com/office/drawing/2014/main" id="{5E691D89-40D4-58ED-495A-30E9023B27FD}"/>
              </a:ext>
            </a:extLst>
          </p:cNvPr>
          <p:cNvGraphicFramePr>
            <a:graphicFrameLocks noGrp="1"/>
          </p:cNvGraphicFramePr>
          <p:nvPr>
            <p:extLst>
              <p:ext uri="{D42A27DB-BD31-4B8C-83A1-F6EECF244321}">
                <p14:modId xmlns:p14="http://schemas.microsoft.com/office/powerpoint/2010/main" val="1810418808"/>
              </p:ext>
            </p:extLst>
          </p:nvPr>
        </p:nvGraphicFramePr>
        <p:xfrm>
          <a:off x="9753600" y="6343736"/>
          <a:ext cx="7629525" cy="2801389"/>
        </p:xfrm>
        <a:graphic>
          <a:graphicData uri="http://schemas.openxmlformats.org/drawingml/2006/table">
            <a:tbl>
              <a:tblPr firstRow="1" bandRow="1">
                <a:tableStyleId>{3B4B98B0-60AC-42C2-AFA5-B58CD77FA1E5}</a:tableStyleId>
              </a:tblPr>
              <a:tblGrid>
                <a:gridCol w="1600200">
                  <a:extLst>
                    <a:ext uri="{9D8B030D-6E8A-4147-A177-3AD203B41FA5}">
                      <a16:colId xmlns:a16="http://schemas.microsoft.com/office/drawing/2014/main" val="3812890341"/>
                    </a:ext>
                  </a:extLst>
                </a:gridCol>
                <a:gridCol w="6029325">
                  <a:extLst>
                    <a:ext uri="{9D8B030D-6E8A-4147-A177-3AD203B41FA5}">
                      <a16:colId xmlns:a16="http://schemas.microsoft.com/office/drawing/2014/main" val="1639092387"/>
                    </a:ext>
                  </a:extLst>
                </a:gridCol>
              </a:tblGrid>
              <a:tr h="1490749">
                <a:tc>
                  <a:txBody>
                    <a:bodyPr/>
                    <a:lstStyle/>
                    <a:p>
                      <a:r>
                        <a:rPr lang="es-ES" sz="2400" dirty="0"/>
                        <a:t>Meta 10.4.</a:t>
                      </a:r>
                      <a:r>
                        <a:rPr lang="es-ES" dirty="0"/>
                        <a:t> </a:t>
                      </a:r>
                    </a:p>
                  </a:txBody>
                  <a:tcPr/>
                </a:tc>
                <a:tc>
                  <a:txBody>
                    <a:bodyPr/>
                    <a:lstStyle/>
                    <a:p>
                      <a:r>
                        <a:rPr lang="es-ES" sz="2000" b="1" dirty="0"/>
                        <a:t>Adoptar políticas, especialmente fiscales, salariales y de protección social, y lograr progresivamente una mayor igualdad.</a:t>
                      </a:r>
                    </a:p>
                  </a:txBody>
                  <a:tcPr/>
                </a:tc>
                <a:extLst>
                  <a:ext uri="{0D108BD9-81ED-4DB2-BD59-A6C34878D82A}">
                    <a16:rowId xmlns:a16="http://schemas.microsoft.com/office/drawing/2014/main" val="1023005454"/>
                  </a:ext>
                </a:extLst>
              </a:tr>
              <a:tr h="1238174">
                <a:tc>
                  <a:txBody>
                    <a:bodyPr/>
                    <a:lstStyle/>
                    <a:p>
                      <a:r>
                        <a:rPr lang="es-ES" sz="2400" dirty="0"/>
                        <a:t>Indicador</a:t>
                      </a:r>
                    </a:p>
                    <a:p>
                      <a:r>
                        <a:rPr lang="es-ES" sz="2400" dirty="0"/>
                        <a:t>10.4.1.</a:t>
                      </a:r>
                    </a:p>
                  </a:txBody>
                  <a:tcPr/>
                </a:tc>
                <a:tc>
                  <a:txBody>
                    <a:bodyPr/>
                    <a:lstStyle/>
                    <a:p>
                      <a:r>
                        <a:rPr lang="es-ES" sz="2000" dirty="0"/>
                        <a:t>Proporción del PIB generada por el trabajo, que comprende los salarios y las transferencias </a:t>
                      </a:r>
                    </a:p>
                    <a:p>
                      <a:r>
                        <a:rPr lang="es-ES" sz="2000" dirty="0"/>
                        <a:t>de protección social.</a:t>
                      </a:r>
                    </a:p>
                  </a:txBody>
                  <a:tcPr/>
                </a:tc>
                <a:extLst>
                  <a:ext uri="{0D108BD9-81ED-4DB2-BD59-A6C34878D82A}">
                    <a16:rowId xmlns:a16="http://schemas.microsoft.com/office/drawing/2014/main" val="169843187"/>
                  </a:ext>
                </a:extLst>
              </a:tr>
            </a:tbl>
          </a:graphicData>
        </a:graphic>
      </p:graphicFrame>
      <p:sp>
        <p:nvSpPr>
          <p:cNvPr id="15" name="CuadroTexto 14">
            <a:extLst>
              <a:ext uri="{FF2B5EF4-FFF2-40B4-BE49-F238E27FC236}">
                <a16:creationId xmlns:a16="http://schemas.microsoft.com/office/drawing/2014/main" id="{CB063C79-781A-D460-4A24-818B18FA2F17}"/>
              </a:ext>
            </a:extLst>
          </p:cNvPr>
          <p:cNvSpPr txBox="1"/>
          <p:nvPr/>
        </p:nvSpPr>
        <p:spPr>
          <a:xfrm>
            <a:off x="719064" y="8953500"/>
            <a:ext cx="6381750" cy="707886"/>
          </a:xfrm>
          <a:prstGeom prst="rect">
            <a:avLst/>
          </a:prstGeom>
          <a:noFill/>
        </p:spPr>
        <p:txBody>
          <a:bodyPr wrap="square">
            <a:spAutoFit/>
          </a:bodyPr>
          <a:lstStyle/>
          <a:p>
            <a:r>
              <a:rPr lang="es-ES" sz="2000" b="1" dirty="0"/>
              <a:t>Meta e indicador del ODS 10-Reducción de las desigualdades</a:t>
            </a:r>
          </a:p>
        </p:txBody>
      </p:sp>
      <p:cxnSp>
        <p:nvCxnSpPr>
          <p:cNvPr id="17" name="Conector recto de flecha 16">
            <a:extLst>
              <a:ext uri="{FF2B5EF4-FFF2-40B4-BE49-F238E27FC236}">
                <a16:creationId xmlns:a16="http://schemas.microsoft.com/office/drawing/2014/main" id="{7C6B4629-F563-1346-4D08-A810D4955914}"/>
              </a:ext>
            </a:extLst>
          </p:cNvPr>
          <p:cNvCxnSpPr/>
          <p:nvPr/>
        </p:nvCxnSpPr>
        <p:spPr>
          <a:xfrm>
            <a:off x="3429000" y="8953500"/>
            <a:ext cx="6248400"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23437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4EDE39-0DF5-F36B-1AF4-4AFCB61AAC6A}"/>
              </a:ext>
            </a:extLst>
          </p:cNvPr>
          <p:cNvSpPr>
            <a:spLocks noGrp="1"/>
          </p:cNvSpPr>
          <p:nvPr>
            <p:ph type="title"/>
          </p:nvPr>
        </p:nvSpPr>
        <p:spPr>
          <a:xfrm>
            <a:off x="1259682" y="547688"/>
            <a:ext cx="12761118" cy="1988345"/>
          </a:xfrm>
        </p:spPr>
        <p:txBody>
          <a:bodyPr>
            <a:normAutofit/>
          </a:bodyPr>
          <a:lstStyle/>
          <a:p>
            <a:r>
              <a:rPr lang="es-ES" sz="5400" dirty="0">
                <a:solidFill>
                  <a:schemeClr val="accent6">
                    <a:lumMod val="75000"/>
                  </a:schemeClr>
                </a:solidFill>
                <a:latin typeface="Berlin Sans FB Demi" panose="020E0802020502020306" pitchFamily="34" charset="0"/>
              </a:rPr>
              <a:t>3.8. Reto 7: lograr la igualdad de género</a:t>
            </a:r>
          </a:p>
        </p:txBody>
      </p:sp>
      <p:sp>
        <p:nvSpPr>
          <p:cNvPr id="8" name="CuadroTexto 7">
            <a:extLst>
              <a:ext uri="{FF2B5EF4-FFF2-40B4-BE49-F238E27FC236}">
                <a16:creationId xmlns:a16="http://schemas.microsoft.com/office/drawing/2014/main" id="{CFE82AE4-5EC0-75DF-4A00-9126329226A8}"/>
              </a:ext>
            </a:extLst>
          </p:cNvPr>
          <p:cNvSpPr txBox="1"/>
          <p:nvPr/>
        </p:nvSpPr>
        <p:spPr>
          <a:xfrm>
            <a:off x="1259682" y="2705100"/>
            <a:ext cx="10515600" cy="1323439"/>
          </a:xfrm>
          <a:prstGeom prst="rect">
            <a:avLst/>
          </a:prstGeom>
          <a:noFill/>
        </p:spPr>
        <p:txBody>
          <a:bodyPr wrap="square">
            <a:spAutoFit/>
          </a:bodyPr>
          <a:lstStyle/>
          <a:p>
            <a:r>
              <a:rPr lang="es-ES" sz="2000" dirty="0"/>
              <a:t>La desigualdad entre hombres y mujeres aparece en varios  ámbitos de la vida: las mujeres dedican más del doble de tiempo que los hombres a las tareas domésticas, así como al cuidado de la familia, existe una brecha salarial importante y más desempleo entre las mujeres y, tristemente, persiste la violencia de género.</a:t>
            </a:r>
          </a:p>
        </p:txBody>
      </p:sp>
      <p:sp>
        <p:nvSpPr>
          <p:cNvPr id="10" name="CuadroTexto 9">
            <a:extLst>
              <a:ext uri="{FF2B5EF4-FFF2-40B4-BE49-F238E27FC236}">
                <a16:creationId xmlns:a16="http://schemas.microsoft.com/office/drawing/2014/main" id="{A41350BB-552A-DF2E-EECC-AC3865CC03ED}"/>
              </a:ext>
            </a:extLst>
          </p:cNvPr>
          <p:cNvSpPr txBox="1"/>
          <p:nvPr/>
        </p:nvSpPr>
        <p:spPr>
          <a:xfrm>
            <a:off x="1259682" y="4197606"/>
            <a:ext cx="7122318" cy="1631216"/>
          </a:xfrm>
          <a:prstGeom prst="rect">
            <a:avLst/>
          </a:prstGeom>
          <a:noFill/>
        </p:spPr>
        <p:txBody>
          <a:bodyPr wrap="square">
            <a:spAutoFit/>
          </a:bodyPr>
          <a:lstStyle/>
          <a:p>
            <a:r>
              <a:rPr lang="es-ES" sz="2000" dirty="0"/>
              <a:t>El objetivo 5-Lograr la igualdad de género y empoderar a todas las mujeres y niñas guarda relación con este reto social de lograr la igualdad de género. El título de este objetivo se puede acortar,  quedando como ODS 5-Igualdad de género. Consta de 9 metas y 14 indicadores </a:t>
            </a:r>
          </a:p>
        </p:txBody>
      </p:sp>
      <p:graphicFrame>
        <p:nvGraphicFramePr>
          <p:cNvPr id="11" name="Tabla 10">
            <a:extLst>
              <a:ext uri="{FF2B5EF4-FFF2-40B4-BE49-F238E27FC236}">
                <a16:creationId xmlns:a16="http://schemas.microsoft.com/office/drawing/2014/main" id="{5C204484-9F59-6576-9643-DFB710C150F3}"/>
              </a:ext>
            </a:extLst>
          </p:cNvPr>
          <p:cNvGraphicFramePr>
            <a:graphicFrameLocks noGrp="1"/>
          </p:cNvGraphicFramePr>
          <p:nvPr>
            <p:extLst>
              <p:ext uri="{D42A27DB-BD31-4B8C-83A1-F6EECF244321}">
                <p14:modId xmlns:p14="http://schemas.microsoft.com/office/powerpoint/2010/main" val="824158709"/>
              </p:ext>
            </p:extLst>
          </p:nvPr>
        </p:nvGraphicFramePr>
        <p:xfrm>
          <a:off x="8839200" y="5458657"/>
          <a:ext cx="8458200" cy="4145280"/>
        </p:xfrm>
        <a:graphic>
          <a:graphicData uri="http://schemas.openxmlformats.org/drawingml/2006/table">
            <a:tbl>
              <a:tblPr firstRow="1" bandRow="1">
                <a:tableStyleId>{3B4B98B0-60AC-42C2-AFA5-B58CD77FA1E5}</a:tableStyleId>
              </a:tblPr>
              <a:tblGrid>
                <a:gridCol w="1774004">
                  <a:extLst>
                    <a:ext uri="{9D8B030D-6E8A-4147-A177-3AD203B41FA5}">
                      <a16:colId xmlns:a16="http://schemas.microsoft.com/office/drawing/2014/main" val="3812890341"/>
                    </a:ext>
                  </a:extLst>
                </a:gridCol>
                <a:gridCol w="6684196">
                  <a:extLst>
                    <a:ext uri="{9D8B030D-6E8A-4147-A177-3AD203B41FA5}">
                      <a16:colId xmlns:a16="http://schemas.microsoft.com/office/drawing/2014/main" val="1639092387"/>
                    </a:ext>
                  </a:extLst>
                </a:gridCol>
              </a:tblGrid>
              <a:tr h="1490749">
                <a:tc>
                  <a:txBody>
                    <a:bodyPr/>
                    <a:lstStyle/>
                    <a:p>
                      <a:r>
                        <a:rPr lang="es-ES" sz="2400" dirty="0"/>
                        <a:t>Meta 5.2.</a:t>
                      </a:r>
                      <a:r>
                        <a:rPr lang="es-ES" dirty="0"/>
                        <a:t> </a:t>
                      </a:r>
                    </a:p>
                  </a:txBody>
                  <a:tcPr/>
                </a:tc>
                <a:tc>
                  <a:txBody>
                    <a:bodyPr/>
                    <a:lstStyle/>
                    <a:p>
                      <a:r>
                        <a:rPr lang="es-ES" sz="2000" b="1" dirty="0"/>
                        <a:t>Eliminar todas las formas de violencia contra todas las mujeres y las niñas en los ámbitos </a:t>
                      </a:r>
                    </a:p>
                    <a:p>
                      <a:r>
                        <a:rPr lang="es-ES" sz="2000" b="1" dirty="0"/>
                        <a:t>público y privado, incluidas la trata y la explotación sexual y otros tipos de explotación.</a:t>
                      </a:r>
                    </a:p>
                  </a:txBody>
                  <a:tcPr/>
                </a:tc>
                <a:extLst>
                  <a:ext uri="{0D108BD9-81ED-4DB2-BD59-A6C34878D82A}">
                    <a16:rowId xmlns:a16="http://schemas.microsoft.com/office/drawing/2014/main" val="1023005454"/>
                  </a:ext>
                </a:extLst>
              </a:tr>
              <a:tr h="1238174">
                <a:tc>
                  <a:txBody>
                    <a:bodyPr/>
                    <a:lstStyle/>
                    <a:p>
                      <a:r>
                        <a:rPr lang="es-ES" sz="2400" dirty="0"/>
                        <a:t>Indicador</a:t>
                      </a:r>
                    </a:p>
                    <a:p>
                      <a:r>
                        <a:rPr lang="es-ES" sz="2400" dirty="0"/>
                        <a:t>5.2.1.</a:t>
                      </a:r>
                    </a:p>
                  </a:txBody>
                  <a:tcPr/>
                </a:tc>
                <a:tc>
                  <a:txBody>
                    <a:bodyPr/>
                    <a:lstStyle/>
                    <a:p>
                      <a:r>
                        <a:rPr lang="es-ES" sz="2000" dirty="0"/>
                        <a:t>Proporción de mujeres y niñas a partir de 15 años que han sufrido violencia física, sexual o </a:t>
                      </a:r>
                    </a:p>
                    <a:p>
                      <a:r>
                        <a:rPr lang="es-ES" sz="2000" dirty="0"/>
                        <a:t>psicológica a manos de su actual o anterior pareja en los últimos 12 meses, desglosada por </a:t>
                      </a:r>
                    </a:p>
                    <a:p>
                      <a:r>
                        <a:rPr lang="es-ES" sz="2000" dirty="0"/>
                        <a:t>forma de violencia y edad.</a:t>
                      </a:r>
                    </a:p>
                  </a:txBody>
                  <a:tcPr/>
                </a:tc>
                <a:extLst>
                  <a:ext uri="{0D108BD9-81ED-4DB2-BD59-A6C34878D82A}">
                    <a16:rowId xmlns:a16="http://schemas.microsoft.com/office/drawing/2014/main" val="169843187"/>
                  </a:ext>
                </a:extLst>
              </a:tr>
            </a:tbl>
          </a:graphicData>
        </a:graphic>
      </p:graphicFrame>
      <p:sp>
        <p:nvSpPr>
          <p:cNvPr id="12" name="CuadroTexto 11">
            <a:extLst>
              <a:ext uri="{FF2B5EF4-FFF2-40B4-BE49-F238E27FC236}">
                <a16:creationId xmlns:a16="http://schemas.microsoft.com/office/drawing/2014/main" id="{7F1B6C55-40F2-6BBA-EFAB-639090D5A054}"/>
              </a:ext>
            </a:extLst>
          </p:cNvPr>
          <p:cNvSpPr txBox="1"/>
          <p:nvPr/>
        </p:nvSpPr>
        <p:spPr>
          <a:xfrm>
            <a:off x="10744200" y="4435614"/>
            <a:ext cx="5486400" cy="707886"/>
          </a:xfrm>
          <a:prstGeom prst="rect">
            <a:avLst/>
          </a:prstGeom>
          <a:noFill/>
        </p:spPr>
        <p:txBody>
          <a:bodyPr wrap="square">
            <a:spAutoFit/>
          </a:bodyPr>
          <a:lstStyle/>
          <a:p>
            <a:r>
              <a:rPr lang="es-ES" sz="2000" b="1" dirty="0"/>
              <a:t>Meta e indicador del ODS 5-Igualdad de género</a:t>
            </a:r>
          </a:p>
        </p:txBody>
      </p:sp>
      <p:pic>
        <p:nvPicPr>
          <p:cNvPr id="14" name="Imagen 13" descr="Concepto de igualdad de género">
            <a:extLst>
              <a:ext uri="{FF2B5EF4-FFF2-40B4-BE49-F238E27FC236}">
                <a16:creationId xmlns:a16="http://schemas.microsoft.com/office/drawing/2014/main" id="{655ED43D-DE6A-DBA7-8722-EC943028C9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8198" y="6210300"/>
            <a:ext cx="4285286" cy="28572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763362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5AE913D2-EA68-0E76-5B6F-006C46D29E0E}"/>
              </a:ext>
            </a:extLst>
          </p:cNvPr>
          <p:cNvSpPr>
            <a:spLocks noGrp="1"/>
          </p:cNvSpPr>
          <p:nvPr>
            <p:ph type="title"/>
          </p:nvPr>
        </p:nvSpPr>
        <p:spPr/>
        <p:txBody>
          <a:bodyPr>
            <a:normAutofit/>
          </a:bodyPr>
          <a:lstStyle/>
          <a:p>
            <a:r>
              <a:rPr lang="es-ES" sz="4800" dirty="0">
                <a:solidFill>
                  <a:schemeClr val="accent6">
                    <a:lumMod val="75000"/>
                  </a:schemeClr>
                </a:solidFill>
                <a:latin typeface="Berlin Sans FB Demi" panose="020E0802020502020306" pitchFamily="34" charset="0"/>
              </a:rPr>
              <a:t>3.9. No dejar a nadie atrás: paz y alianzas </a:t>
            </a:r>
            <a:br>
              <a:rPr lang="es-ES" sz="4800" dirty="0">
                <a:solidFill>
                  <a:schemeClr val="accent6">
                    <a:lumMod val="75000"/>
                  </a:schemeClr>
                </a:solidFill>
                <a:latin typeface="Berlin Sans FB Demi" panose="020E0802020502020306" pitchFamily="34" charset="0"/>
              </a:rPr>
            </a:br>
            <a:r>
              <a:rPr lang="es-ES" sz="4800" dirty="0">
                <a:solidFill>
                  <a:schemeClr val="accent6">
                    <a:lumMod val="75000"/>
                  </a:schemeClr>
                </a:solidFill>
                <a:latin typeface="Berlin Sans FB Demi" panose="020E0802020502020306" pitchFamily="34" charset="0"/>
              </a:rPr>
              <a:t>para lograr los objetivos</a:t>
            </a:r>
          </a:p>
        </p:txBody>
      </p:sp>
      <p:sp>
        <p:nvSpPr>
          <p:cNvPr id="4" name="Marcador de contenido 3">
            <a:extLst>
              <a:ext uri="{FF2B5EF4-FFF2-40B4-BE49-F238E27FC236}">
                <a16:creationId xmlns:a16="http://schemas.microsoft.com/office/drawing/2014/main" id="{932DCED2-C725-914E-FA06-45D1431072E8}"/>
              </a:ext>
            </a:extLst>
          </p:cNvPr>
          <p:cNvSpPr>
            <a:spLocks noGrp="1"/>
          </p:cNvSpPr>
          <p:nvPr>
            <p:ph sz="half" idx="2"/>
          </p:nvPr>
        </p:nvSpPr>
        <p:spPr>
          <a:xfrm>
            <a:off x="1259682" y="2776537"/>
            <a:ext cx="7736681" cy="1477328"/>
          </a:xfrm>
        </p:spPr>
        <p:txBody>
          <a:bodyPr>
            <a:normAutofit/>
          </a:bodyPr>
          <a:lstStyle/>
          <a:p>
            <a:pPr marL="0" indent="0">
              <a:buNone/>
            </a:pPr>
            <a:r>
              <a:rPr lang="es-ES" sz="2200" dirty="0"/>
              <a:t>La Agenda 2030 ha incluido en buena lógica un objetivo dedicado explícitamente a la paz y a la erradicación de todas las formas de violencia. </a:t>
            </a:r>
          </a:p>
        </p:txBody>
      </p:sp>
      <p:sp>
        <p:nvSpPr>
          <p:cNvPr id="10" name="CuadroTexto 9">
            <a:extLst>
              <a:ext uri="{FF2B5EF4-FFF2-40B4-BE49-F238E27FC236}">
                <a16:creationId xmlns:a16="http://schemas.microsoft.com/office/drawing/2014/main" id="{D1322098-ED9C-A91D-D055-30456D677EE6}"/>
              </a:ext>
            </a:extLst>
          </p:cNvPr>
          <p:cNvSpPr txBox="1"/>
          <p:nvPr/>
        </p:nvSpPr>
        <p:spPr>
          <a:xfrm>
            <a:off x="1235869" y="3909478"/>
            <a:ext cx="9144000" cy="2123658"/>
          </a:xfrm>
          <a:prstGeom prst="rect">
            <a:avLst/>
          </a:prstGeom>
          <a:noFill/>
        </p:spPr>
        <p:txBody>
          <a:bodyPr wrap="square">
            <a:spAutoFit/>
          </a:bodyPr>
          <a:lstStyle/>
          <a:p>
            <a:r>
              <a:rPr lang="es-ES" sz="2200" dirty="0"/>
              <a:t>Concretamente, el ODS 16-Promover sociedades pacíficas e inclusivas para el desarrollo sostenible, facilitar el acceso a la justicia para todos y construir a todos los niveles instituciones eficaces e inclusivas que rindan cuentas. Este ODS consta de 12 metas y 23 indicadores y queda redactado como ODS 5-Paz, justicia e instituciones sólidas en su forma abreviada.</a:t>
            </a:r>
          </a:p>
        </p:txBody>
      </p:sp>
      <p:graphicFrame>
        <p:nvGraphicFramePr>
          <p:cNvPr id="11" name="Tabla 10">
            <a:extLst>
              <a:ext uri="{FF2B5EF4-FFF2-40B4-BE49-F238E27FC236}">
                <a16:creationId xmlns:a16="http://schemas.microsoft.com/office/drawing/2014/main" id="{70BC8069-6780-AF2F-6D4D-E4DBB5DBAF85}"/>
              </a:ext>
            </a:extLst>
          </p:cNvPr>
          <p:cNvGraphicFramePr>
            <a:graphicFrameLocks noGrp="1"/>
          </p:cNvGraphicFramePr>
          <p:nvPr>
            <p:extLst>
              <p:ext uri="{D42A27DB-BD31-4B8C-83A1-F6EECF244321}">
                <p14:modId xmlns:p14="http://schemas.microsoft.com/office/powerpoint/2010/main" val="3816912241"/>
              </p:ext>
            </p:extLst>
          </p:nvPr>
        </p:nvGraphicFramePr>
        <p:xfrm>
          <a:off x="9144000" y="6362700"/>
          <a:ext cx="8458200" cy="3108960"/>
        </p:xfrm>
        <a:graphic>
          <a:graphicData uri="http://schemas.openxmlformats.org/drawingml/2006/table">
            <a:tbl>
              <a:tblPr firstRow="1" bandRow="1">
                <a:tableStyleId>{3B4B98B0-60AC-42C2-AFA5-B58CD77FA1E5}</a:tableStyleId>
              </a:tblPr>
              <a:tblGrid>
                <a:gridCol w="1774004">
                  <a:extLst>
                    <a:ext uri="{9D8B030D-6E8A-4147-A177-3AD203B41FA5}">
                      <a16:colId xmlns:a16="http://schemas.microsoft.com/office/drawing/2014/main" val="3812890341"/>
                    </a:ext>
                  </a:extLst>
                </a:gridCol>
                <a:gridCol w="6684196">
                  <a:extLst>
                    <a:ext uri="{9D8B030D-6E8A-4147-A177-3AD203B41FA5}">
                      <a16:colId xmlns:a16="http://schemas.microsoft.com/office/drawing/2014/main" val="1639092387"/>
                    </a:ext>
                  </a:extLst>
                </a:gridCol>
              </a:tblGrid>
              <a:tr h="1293538">
                <a:tc>
                  <a:txBody>
                    <a:bodyPr/>
                    <a:lstStyle/>
                    <a:p>
                      <a:r>
                        <a:rPr lang="es-ES" sz="2400" dirty="0"/>
                        <a:t>Meta  16-4</a:t>
                      </a:r>
                      <a:r>
                        <a:rPr lang="es-ES" dirty="0"/>
                        <a:t> </a:t>
                      </a:r>
                    </a:p>
                  </a:txBody>
                  <a:tcPr/>
                </a:tc>
                <a:tc>
                  <a:txBody>
                    <a:bodyPr/>
                    <a:lstStyle/>
                    <a:p>
                      <a:r>
                        <a:rPr lang="es-ES" sz="2000" b="1" dirty="0"/>
                        <a:t>De aquí al 2030, reducir significativamente las corrientes financieras y de armas ilícitas, fortalecer la recuperación y devolución de los activos robados y luchar contra todas las formas de delincuencia organizada.</a:t>
                      </a:r>
                    </a:p>
                  </a:txBody>
                  <a:tcPr/>
                </a:tc>
                <a:extLst>
                  <a:ext uri="{0D108BD9-81ED-4DB2-BD59-A6C34878D82A}">
                    <a16:rowId xmlns:a16="http://schemas.microsoft.com/office/drawing/2014/main" val="1023005454"/>
                  </a:ext>
                </a:extLst>
              </a:tr>
              <a:tr h="1074376">
                <a:tc>
                  <a:txBody>
                    <a:bodyPr/>
                    <a:lstStyle/>
                    <a:p>
                      <a:r>
                        <a:rPr lang="es-ES" sz="2400" dirty="0"/>
                        <a:t>Indicador</a:t>
                      </a:r>
                    </a:p>
                    <a:p>
                      <a:r>
                        <a:rPr lang="es-ES" sz="2400" dirty="0"/>
                        <a:t>164.1.</a:t>
                      </a:r>
                    </a:p>
                  </a:txBody>
                  <a:tcPr/>
                </a:tc>
                <a:tc>
                  <a:txBody>
                    <a:bodyPr/>
                    <a:lstStyle/>
                    <a:p>
                      <a:r>
                        <a:rPr lang="es-ES" sz="2000" dirty="0"/>
                        <a:t>Valor total de las corrientes financieras ilícitas entrantes y salientes (en dólares corrientes de los Estados Unidos).</a:t>
                      </a:r>
                    </a:p>
                  </a:txBody>
                  <a:tcPr/>
                </a:tc>
                <a:extLst>
                  <a:ext uri="{0D108BD9-81ED-4DB2-BD59-A6C34878D82A}">
                    <a16:rowId xmlns:a16="http://schemas.microsoft.com/office/drawing/2014/main" val="169843187"/>
                  </a:ext>
                </a:extLst>
              </a:tr>
            </a:tbl>
          </a:graphicData>
        </a:graphic>
      </p:graphicFrame>
      <p:sp>
        <p:nvSpPr>
          <p:cNvPr id="12" name="CuadroTexto 11">
            <a:extLst>
              <a:ext uri="{FF2B5EF4-FFF2-40B4-BE49-F238E27FC236}">
                <a16:creationId xmlns:a16="http://schemas.microsoft.com/office/drawing/2014/main" id="{50394432-A108-E372-B83B-784FCAC63748}"/>
              </a:ext>
            </a:extLst>
          </p:cNvPr>
          <p:cNvSpPr txBox="1"/>
          <p:nvPr/>
        </p:nvSpPr>
        <p:spPr>
          <a:xfrm>
            <a:off x="10744200" y="5325250"/>
            <a:ext cx="5486400" cy="707886"/>
          </a:xfrm>
          <a:prstGeom prst="rect">
            <a:avLst/>
          </a:prstGeom>
          <a:noFill/>
        </p:spPr>
        <p:txBody>
          <a:bodyPr wrap="square">
            <a:spAutoFit/>
          </a:bodyPr>
          <a:lstStyle/>
          <a:p>
            <a:r>
              <a:rPr lang="es-ES" sz="2000" b="1" dirty="0"/>
              <a:t>Meta e indicador del ODS 5-Paz, justicia e </a:t>
            </a:r>
            <a:r>
              <a:rPr lang="es-ES" sz="2000" b="1"/>
              <a:t>instituciones sólidas</a:t>
            </a:r>
            <a:endParaRPr lang="es-ES" sz="2000" b="1" dirty="0"/>
          </a:p>
        </p:txBody>
      </p:sp>
      <p:pic>
        <p:nvPicPr>
          <p:cNvPr id="1026" name="Picture 2" descr="La Paz Mundial, Paz, Mundo">
            <a:extLst>
              <a:ext uri="{FF2B5EF4-FFF2-40B4-BE49-F238E27FC236}">
                <a16:creationId xmlns:a16="http://schemas.microsoft.com/office/drawing/2014/main" id="{3341D252-68D5-B54C-7FF4-84ADE2652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493396"/>
            <a:ext cx="7848600" cy="4399508"/>
          </a:xfrm>
          <a:prstGeom prst="rect">
            <a:avLst/>
          </a:prstGeom>
          <a:noFill/>
          <a:extLst>
            <a:ext uri="{909E8E84-426E-40DD-AFC4-6F175D3DCCD1}">
              <a14:hiddenFill xmlns:a14="http://schemas.microsoft.com/office/drawing/2010/main">
                <a:solidFill>
                  <a:srgbClr val="FFFFFF"/>
                </a:solidFill>
              </a14:hiddenFill>
            </a:ext>
          </a:extLst>
        </p:spPr>
      </p:pic>
      <p:pic>
        <p:nvPicPr>
          <p:cNvPr id="3" name="Gráfico 2" descr="Rama de olivo contorno">
            <a:extLst>
              <a:ext uri="{FF2B5EF4-FFF2-40B4-BE49-F238E27FC236}">
                <a16:creationId xmlns:a16="http://schemas.microsoft.com/office/drawing/2014/main" id="{06FADF78-7F6E-4151-932D-A278F2AA3EB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3373100" y="2184797"/>
            <a:ext cx="2069068" cy="2069068"/>
          </a:xfrm>
          <a:prstGeom prst="rect">
            <a:avLst/>
          </a:prstGeom>
        </p:spPr>
      </p:pic>
    </p:spTree>
    <p:extLst>
      <p:ext uri="{BB962C8B-B14F-4D97-AF65-F5344CB8AC3E}">
        <p14:creationId xmlns:p14="http://schemas.microsoft.com/office/powerpoint/2010/main" val="3781024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B612850E-A315-BB20-3AE5-841FBFB769EB}"/>
              </a:ext>
            </a:extLst>
          </p:cNvPr>
          <p:cNvSpPr>
            <a:spLocks noGrp="1"/>
          </p:cNvSpPr>
          <p:nvPr>
            <p:ph type="title"/>
          </p:nvPr>
        </p:nvSpPr>
        <p:spPr>
          <a:xfrm>
            <a:off x="1447800" y="1444034"/>
            <a:ext cx="8686800" cy="2064545"/>
          </a:xfrm>
        </p:spPr>
        <p:txBody>
          <a:bodyPr>
            <a:noAutofit/>
          </a:bodyPr>
          <a:lstStyle/>
          <a:p>
            <a:r>
              <a:rPr lang="es-ES" sz="2800" dirty="0"/>
              <a:t/>
            </a:r>
            <a:br>
              <a:rPr lang="es-ES" sz="2800" dirty="0"/>
            </a:br>
            <a:r>
              <a:rPr lang="es-ES" sz="2800" dirty="0"/>
              <a:t/>
            </a:r>
            <a:br>
              <a:rPr lang="es-ES" sz="2800" dirty="0"/>
            </a:br>
            <a:r>
              <a:rPr lang="es-ES" sz="2800" dirty="0"/>
              <a:t/>
            </a:r>
            <a:br>
              <a:rPr lang="es-ES" sz="2800" dirty="0"/>
            </a:br>
            <a:r>
              <a:rPr lang="es-ES" sz="2400" dirty="0"/>
              <a:t>Los ODS previstos en la Agenda 2030 son globales y para su consecución se necesita de la colaboración de todos los países y, en particular, de la solidaridad de los desarrollados. Aunque las guerras y demás conflictos internacionales son obviamente incompatibles con la Agenda 2030, la consecución de las metas de la Agenda 2030 no depende de la existencia de paz  exclusivamente. </a:t>
            </a:r>
            <a:br>
              <a:rPr lang="es-ES" sz="2400" dirty="0"/>
            </a:br>
            <a:r>
              <a:rPr lang="es-ES" sz="2400" dirty="0"/>
              <a:t/>
            </a:r>
            <a:br>
              <a:rPr lang="es-ES" sz="2400" dirty="0"/>
            </a:br>
            <a:r>
              <a:rPr lang="es-ES" sz="2400" dirty="0"/>
              <a:t>La Agenda incluye el objetivo número 17-Fortalecer los medios de implementación y revitalizar la alianza mundial para el desarrollo sostenible (ODS 17-Alianzas para lograr los objetivos en su versión abreviada), que consta de 19 metas repartidas entre varios bloques.</a:t>
            </a:r>
            <a:endParaRPr lang="es-ES" sz="2800" dirty="0"/>
          </a:p>
        </p:txBody>
      </p:sp>
      <p:graphicFrame>
        <p:nvGraphicFramePr>
          <p:cNvPr id="2" name="Tabla 1">
            <a:extLst>
              <a:ext uri="{FF2B5EF4-FFF2-40B4-BE49-F238E27FC236}">
                <a16:creationId xmlns:a16="http://schemas.microsoft.com/office/drawing/2014/main" id="{799F83B5-43D4-E1EA-1D74-A267774D26B9}"/>
              </a:ext>
            </a:extLst>
          </p:cNvPr>
          <p:cNvGraphicFramePr>
            <a:graphicFrameLocks noGrp="1"/>
          </p:cNvGraphicFramePr>
          <p:nvPr>
            <p:extLst>
              <p:ext uri="{D42A27DB-BD31-4B8C-83A1-F6EECF244321}">
                <p14:modId xmlns:p14="http://schemas.microsoft.com/office/powerpoint/2010/main" val="139157652"/>
              </p:ext>
            </p:extLst>
          </p:nvPr>
        </p:nvGraphicFramePr>
        <p:xfrm>
          <a:off x="1447800" y="6007596"/>
          <a:ext cx="9525000" cy="3296209"/>
        </p:xfrm>
        <a:graphic>
          <a:graphicData uri="http://schemas.openxmlformats.org/drawingml/2006/table">
            <a:tbl>
              <a:tblPr firstRow="1" bandRow="1">
                <a:tableStyleId>{3B4B98B0-60AC-42C2-AFA5-B58CD77FA1E5}</a:tableStyleId>
              </a:tblPr>
              <a:tblGrid>
                <a:gridCol w="1997752">
                  <a:extLst>
                    <a:ext uri="{9D8B030D-6E8A-4147-A177-3AD203B41FA5}">
                      <a16:colId xmlns:a16="http://schemas.microsoft.com/office/drawing/2014/main" val="3812890341"/>
                    </a:ext>
                  </a:extLst>
                </a:gridCol>
                <a:gridCol w="7527248">
                  <a:extLst>
                    <a:ext uri="{9D8B030D-6E8A-4147-A177-3AD203B41FA5}">
                      <a16:colId xmlns:a16="http://schemas.microsoft.com/office/drawing/2014/main" val="1639092387"/>
                    </a:ext>
                  </a:extLst>
                </a:gridCol>
              </a:tblGrid>
              <a:tr h="1610617">
                <a:tc>
                  <a:txBody>
                    <a:bodyPr/>
                    <a:lstStyle/>
                    <a:p>
                      <a:r>
                        <a:rPr lang="es-ES" sz="2400" dirty="0"/>
                        <a:t>Meta  17-10.</a:t>
                      </a:r>
                      <a:r>
                        <a:rPr lang="es-ES" dirty="0"/>
                        <a:t> </a:t>
                      </a:r>
                    </a:p>
                  </a:txBody>
                  <a:tcPr/>
                </a:tc>
                <a:tc>
                  <a:txBody>
                    <a:bodyPr/>
                    <a:lstStyle/>
                    <a:p>
                      <a:r>
                        <a:rPr lang="es-ES" sz="2000" b="1" dirty="0"/>
                        <a:t>Promover un sistema de comercio multilateral universal, basado en normas, abierto, no discriminatorio y equitativo en el marco de la Organización Mundial del Comercio, incluso mediante la conclusión de las negociaciones en el marco del Programa de Doha para el Desarrollo.</a:t>
                      </a:r>
                    </a:p>
                  </a:txBody>
                  <a:tcPr/>
                </a:tc>
                <a:extLst>
                  <a:ext uri="{0D108BD9-81ED-4DB2-BD59-A6C34878D82A}">
                    <a16:rowId xmlns:a16="http://schemas.microsoft.com/office/drawing/2014/main" val="1023005454"/>
                  </a:ext>
                </a:extLst>
              </a:tr>
              <a:tr h="1071169">
                <a:tc>
                  <a:txBody>
                    <a:bodyPr/>
                    <a:lstStyle/>
                    <a:p>
                      <a:r>
                        <a:rPr lang="es-ES" sz="2400" dirty="0"/>
                        <a:t>Indicador</a:t>
                      </a:r>
                    </a:p>
                    <a:p>
                      <a:r>
                        <a:rPr lang="es-ES" sz="2400" dirty="0"/>
                        <a:t>17.10.1.</a:t>
                      </a:r>
                    </a:p>
                  </a:txBody>
                  <a:tcPr/>
                </a:tc>
                <a:tc>
                  <a:txBody>
                    <a:bodyPr/>
                    <a:lstStyle/>
                    <a:p>
                      <a:r>
                        <a:rPr lang="es-ES" sz="2000" dirty="0"/>
                        <a:t>Promedio arancelario mundial ponderado.</a:t>
                      </a:r>
                    </a:p>
                  </a:txBody>
                  <a:tcPr/>
                </a:tc>
                <a:extLst>
                  <a:ext uri="{0D108BD9-81ED-4DB2-BD59-A6C34878D82A}">
                    <a16:rowId xmlns:a16="http://schemas.microsoft.com/office/drawing/2014/main" val="169843187"/>
                  </a:ext>
                </a:extLst>
              </a:tr>
            </a:tbl>
          </a:graphicData>
        </a:graphic>
      </p:graphicFrame>
      <p:pic>
        <p:nvPicPr>
          <p:cNvPr id="4" name="Imagen 3" descr="Gráfico, Gráfico de proyección solar&#10;&#10;Descripción generada automáticamente">
            <a:extLst>
              <a:ext uri="{FF2B5EF4-FFF2-40B4-BE49-F238E27FC236}">
                <a16:creationId xmlns:a16="http://schemas.microsoft.com/office/drawing/2014/main" id="{FBD37169-E7E2-5F22-6977-5CCB8D04E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4800" y="2431255"/>
            <a:ext cx="5805357" cy="5562600"/>
          </a:xfrm>
          <a:prstGeom prst="rect">
            <a:avLst/>
          </a:prstGeom>
          <a:ln>
            <a:noFill/>
          </a:ln>
          <a:effectLst>
            <a:softEdge rad="112500"/>
          </a:effectLst>
        </p:spPr>
      </p:pic>
    </p:spTree>
    <p:extLst>
      <p:ext uri="{BB962C8B-B14F-4D97-AF65-F5344CB8AC3E}">
        <p14:creationId xmlns:p14="http://schemas.microsoft.com/office/powerpoint/2010/main" val="1186383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6230C3D9-1792-1A73-F2F1-D3AA0D360FCA}"/>
              </a:ext>
            </a:extLst>
          </p:cNvPr>
          <p:cNvSpPr txBox="1"/>
          <p:nvPr/>
        </p:nvSpPr>
        <p:spPr>
          <a:xfrm>
            <a:off x="1762125" y="1409997"/>
            <a:ext cx="10210800" cy="1446550"/>
          </a:xfrm>
          <a:prstGeom prst="rect">
            <a:avLst/>
          </a:prstGeom>
          <a:noFill/>
        </p:spPr>
        <p:txBody>
          <a:bodyPr wrap="square">
            <a:spAutoFit/>
          </a:bodyPr>
          <a:lstStyle/>
          <a:p>
            <a:r>
              <a:rPr lang="es-ES" sz="4400" dirty="0">
                <a:solidFill>
                  <a:schemeClr val="accent6">
                    <a:lumMod val="75000"/>
                  </a:schemeClr>
                </a:solidFill>
                <a:latin typeface="Berlin Sans FB Demi" panose="020E0802020502020306" pitchFamily="34" charset="0"/>
              </a:rPr>
              <a:t>3.10. Educar ambientalmente a la ciudadanía</a:t>
            </a:r>
          </a:p>
        </p:txBody>
      </p:sp>
      <p:sp>
        <p:nvSpPr>
          <p:cNvPr id="10" name="CuadroTexto 9">
            <a:extLst>
              <a:ext uri="{FF2B5EF4-FFF2-40B4-BE49-F238E27FC236}">
                <a16:creationId xmlns:a16="http://schemas.microsoft.com/office/drawing/2014/main" id="{603488B7-6868-0DF0-103A-23F3692A82CA}"/>
              </a:ext>
            </a:extLst>
          </p:cNvPr>
          <p:cNvSpPr txBox="1"/>
          <p:nvPr/>
        </p:nvSpPr>
        <p:spPr>
          <a:xfrm>
            <a:off x="1762125" y="3390900"/>
            <a:ext cx="9144000" cy="2123658"/>
          </a:xfrm>
          <a:prstGeom prst="rect">
            <a:avLst/>
          </a:prstGeom>
          <a:noFill/>
        </p:spPr>
        <p:txBody>
          <a:bodyPr wrap="square">
            <a:spAutoFit/>
          </a:bodyPr>
          <a:lstStyle/>
          <a:p>
            <a:r>
              <a:rPr lang="es-ES" sz="2200" dirty="0"/>
              <a:t>La educación que transmite conocimientos sobre la protección del medioambiente y crea conciencia sobre los problemas ambientales, al tiempo que proporciona herramientas para prevenirlos y resolverlos, se denomina educación ambiental. Las actividades de </a:t>
            </a:r>
          </a:p>
          <a:p>
            <a:r>
              <a:rPr lang="es-ES" sz="2200" dirty="0"/>
              <a:t>educación ambiental son adecuadas para todas las edades y grupos sociales.</a:t>
            </a:r>
          </a:p>
        </p:txBody>
      </p:sp>
      <p:sp>
        <p:nvSpPr>
          <p:cNvPr id="12" name="CuadroTexto 11">
            <a:extLst>
              <a:ext uri="{FF2B5EF4-FFF2-40B4-BE49-F238E27FC236}">
                <a16:creationId xmlns:a16="http://schemas.microsoft.com/office/drawing/2014/main" id="{12A66A44-53B7-7DBB-2A79-DCD0E39B6BB8}"/>
              </a:ext>
            </a:extLst>
          </p:cNvPr>
          <p:cNvSpPr txBox="1"/>
          <p:nvPr/>
        </p:nvSpPr>
        <p:spPr>
          <a:xfrm>
            <a:off x="1762125" y="5667374"/>
            <a:ext cx="8920163" cy="1107996"/>
          </a:xfrm>
          <a:prstGeom prst="rect">
            <a:avLst/>
          </a:prstGeom>
          <a:noFill/>
        </p:spPr>
        <p:txBody>
          <a:bodyPr wrap="square">
            <a:spAutoFit/>
          </a:bodyPr>
          <a:lstStyle/>
          <a:p>
            <a:r>
              <a:rPr lang="es-ES" sz="2200" dirty="0"/>
              <a:t>Diferentes estudios científicos han comprobado que hasta el 83 % de los niños y niñas que reciben clases de educación ambiental mejoran su comportamiento ecológico. </a:t>
            </a:r>
          </a:p>
        </p:txBody>
      </p:sp>
      <p:sp>
        <p:nvSpPr>
          <p:cNvPr id="15" name="Pergamino: vertical 14">
            <a:extLst>
              <a:ext uri="{FF2B5EF4-FFF2-40B4-BE49-F238E27FC236}">
                <a16:creationId xmlns:a16="http://schemas.microsoft.com/office/drawing/2014/main" id="{72F8E88E-3AF1-D0B2-4316-6514ED41A25A}"/>
              </a:ext>
            </a:extLst>
          </p:cNvPr>
          <p:cNvSpPr/>
          <p:nvPr/>
        </p:nvSpPr>
        <p:spPr>
          <a:xfrm>
            <a:off x="10968037" y="2400300"/>
            <a:ext cx="5681664" cy="5867400"/>
          </a:xfrm>
          <a:prstGeom prst="verticalScroll">
            <a:avLst/>
          </a:prstGeom>
          <a:blipFill dpi="0" rotWithShape="1">
            <a:blip r:embed="rId2">
              <a:extLst>
                <a:ext uri="{28A0092B-C50C-407E-A947-70E740481C1C}">
                  <a14:useLocalDpi xmlns:a14="http://schemas.microsoft.com/office/drawing/2010/main" val="0"/>
                </a:ext>
              </a:extLst>
            </a:blip>
            <a:srcRect/>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Gráfico 20" descr="Cerezo">
            <a:extLst>
              <a:ext uri="{FF2B5EF4-FFF2-40B4-BE49-F238E27FC236}">
                <a16:creationId xmlns:a16="http://schemas.microsoft.com/office/drawing/2014/main" id="{C9918C8D-A449-E617-E0C5-033975DAF5E5}"/>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843462" y="6438900"/>
            <a:ext cx="4048125" cy="4048125"/>
          </a:xfrm>
          <a:prstGeom prst="rect">
            <a:avLst/>
          </a:prstGeom>
        </p:spPr>
      </p:pic>
    </p:spTree>
    <p:extLst>
      <p:ext uri="{BB962C8B-B14F-4D97-AF65-F5344CB8AC3E}">
        <p14:creationId xmlns:p14="http://schemas.microsoft.com/office/powerpoint/2010/main" val="8053978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Presentacion aula Unidad 3 (4)</Template>
  <TotalTime>2</TotalTime>
  <Words>2480</Words>
  <Application>Microsoft Office PowerPoint</Application>
  <PresentationFormat>Personalizado</PresentationFormat>
  <Paragraphs>141</Paragraphs>
  <Slides>20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Calibri</vt:lpstr>
      <vt:lpstr>Aptos Display</vt:lpstr>
      <vt:lpstr>Berlin Sans FB Demi</vt:lpstr>
      <vt:lpstr>Aptos</vt:lpstr>
      <vt:lpstr>Bobby Jones 2</vt:lpstr>
      <vt:lpstr>Arial</vt:lpstr>
      <vt:lpstr>Tema de Office</vt:lpstr>
      <vt:lpstr>Presentación de PowerPoint</vt:lpstr>
      <vt:lpstr>Presentación de PowerPoint</vt:lpstr>
      <vt:lpstr>Presentación de PowerPoint</vt:lpstr>
      <vt:lpstr>Presentación de PowerPoint</vt:lpstr>
      <vt:lpstr>3.2.2. Todos los ODS contemplan la superpoblación del planeta</vt:lpstr>
      <vt:lpstr>3.2.3. ¿Cómo reducir el impacto de la superpoblación?</vt:lpstr>
      <vt:lpstr>Presentación de PowerPoint</vt:lpstr>
      <vt:lpstr>3.2.4. La controversia sobre el control de la natalidad</vt:lpstr>
      <vt:lpstr>3.3. Reto 2: frenar el despoblamiento  de las áreas rurales</vt:lpstr>
      <vt:lpstr>3.4. Reto 3: garantizar la salud y el bienestar a todas las edades</vt:lpstr>
      <vt:lpstr>3.5. Reto 4: lograr la seguridad alimentaria</vt:lpstr>
      <vt:lpstr>3.5.2. Opciones para lograr la seguridad alimentaria</vt:lpstr>
      <vt:lpstr>3.6. Reto 5: promover el empleo y garantizar  la educación</vt:lpstr>
      <vt:lpstr>3.6.1. Precariedad laboral, desempleo y desigualdad</vt:lpstr>
      <vt:lpstr>3.7. Reto 6: acabar con la pobreza  y con la desigualdad económica</vt:lpstr>
      <vt:lpstr>Presentación de PowerPoint</vt:lpstr>
      <vt:lpstr>3.8. Reto 7: lograr la igualdad de género</vt:lpstr>
      <vt:lpstr>3.9. No dejar a nadie atrás: paz y alianzas  para lograr los objetivos</vt:lpstr>
      <vt:lpstr>   Los ODS previstos en la Agenda 2030 son globales y para su consecución se necesita de la colaboración de todos los países y, en particular, de la solidaridad de los desarrollados. Aunque las guerras y demás conflictos internacionales son obviamente incompatibles con la Agenda 2030, la consecución de las metas de la Agenda 2030 no depende de la existencia de paz  exclusivamente.   La Agenda incluye el objetivo número 17-Fortalecer los medios de implementación y revitalizar la alianza mundial para el desarrollo sostenible (ODS 17-Alianzas para lograr los objetivos en su versión abreviada), que consta de 19 metas repartidas entre varios bloques.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Maria del Pilar Ruiz Aparicio</dc:creator>
  <cp:lastModifiedBy>Maria del Pilar Ruiz Aparicio</cp:lastModifiedBy>
  <cp:revision>2</cp:revision>
  <cp:lastPrinted>2025-11-05T14:42:36Z</cp:lastPrinted>
  <dcterms:created xsi:type="dcterms:W3CDTF">2025-11-05T14:41:52Z</dcterms:created>
  <dcterms:modified xsi:type="dcterms:W3CDTF">2025-11-05T14:44:28Z</dcterms:modified>
  <dc:identifier>DAGD5o3Ebfw</dc:identifier>
</cp:coreProperties>
</file>